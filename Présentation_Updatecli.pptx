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9" r:id="rId5"/>
    <p:sldId id="260" r:id="rId6"/>
    <p:sldId id="268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273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Benguerfi" initials="AB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27" autoAdjust="0"/>
  </p:normalViewPr>
  <p:slideViewPr>
    <p:cSldViewPr snapToGrid="0">
      <p:cViewPr varScale="1">
        <p:scale>
          <a:sx n="147" d="100"/>
          <a:sy n="147" d="100"/>
        </p:scale>
        <p:origin x="774" y="108"/>
      </p:cViewPr>
      <p:guideLst>
        <p:guide orient="horz" pos="2169"/>
        <p:guide pos="27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9T11:35:01" idx="1">
    <p:pos x="2784" y="422"/>
    <p:text>Refaire avec docker.io dans l’image nginx ?</p:text>
    <p:extLst>
      <p:ext uri="{C676402C-5697-4E1C-873F-D02D1690AC5C}">
        <p15:threadingInfo xmlns:p15="http://schemas.microsoft.com/office/powerpoint/2012/main" timeZoneBias="-60"/>
      </p:ex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7;Anthony Benguerfi;1;17;Anthony Benguerfi;2;1;0;3;20;2025-11-29T10:35:01Z;4;38;{EEC6B04A-FF8D-CF6D-36E0-ADD8165D4643};" providerId="AD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4606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67642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477899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057791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214093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998857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58743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1458169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44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E9389-5F95-B41C-7202-827C37E726A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7648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1144481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dirty="0"/>
              <a:t>APHP : 1</a:t>
            </a:r>
            <a:r>
              <a:rPr lang="fr-FR" baseline="30000" dirty="0"/>
              <a:t>er</a:t>
            </a:r>
            <a:r>
              <a:rPr lang="fr-FR" dirty="0"/>
              <a:t> CHU d’Europe</a:t>
            </a:r>
            <a:endParaRPr dirty="0"/>
          </a:p>
        </p:txBody>
      </p:sp>
      <p:sp>
        <p:nvSpPr>
          <p:cNvPr id="2077566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4E044B-8DEB-E13F-3D6A-A421F0AB0C7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4365-BC38-FEBE-8615-19DAE4F95B0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46502" name="Slide Image Placeholder 1">
            <a:extLst>
              <a:ext uri="{FF2B5EF4-FFF2-40B4-BE49-F238E27FC236}">
                <a16:creationId xmlns:a16="http://schemas.microsoft.com/office/drawing/2014/main" id="{3736D4B1-4C10-12A4-C2DF-3FABB300A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769991030" name="Notes Placeholder 2">
            <a:extLst>
              <a:ext uri="{FF2B5EF4-FFF2-40B4-BE49-F238E27FC236}">
                <a16:creationId xmlns:a16="http://schemas.microsoft.com/office/drawing/2014/main" id="{2A6E32B4-B273-5805-5F29-DA0B00478F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dirty="0"/>
              <a:t>- Infrastructure On-</a:t>
            </a:r>
            <a:r>
              <a:rPr lang="fr-FR" dirty="0" err="1"/>
              <a:t>Premise</a:t>
            </a:r>
            <a:r>
              <a:rPr lang="fr-FR" dirty="0"/>
              <a:t> &amp; Cloud</a:t>
            </a:r>
          </a:p>
          <a:p>
            <a:pPr marL="0" indent="0">
              <a:buFontTx/>
              <a:buNone/>
              <a:defRPr/>
            </a:pPr>
            <a:r>
              <a:rPr lang="fr-FR" dirty="0"/>
              <a:t>- Mise à jour pour des aspects de fonctionnalités et sécuritaires</a:t>
            </a:r>
          </a:p>
          <a:p>
            <a:pPr marL="0" indent="0">
              <a:buFontTx/>
              <a:buNone/>
              <a:defRPr/>
            </a:pPr>
            <a:r>
              <a:rPr lang="fr-FR" dirty="0"/>
              <a:t>- ArgoCD = Outil de CD de type Déclaratif pour Kubernetes</a:t>
            </a:r>
            <a:endParaRPr dirty="0"/>
          </a:p>
        </p:txBody>
      </p:sp>
      <p:sp>
        <p:nvSpPr>
          <p:cNvPr id="1463399024" name="Slide Number Placeholder 3">
            <a:extLst>
              <a:ext uri="{FF2B5EF4-FFF2-40B4-BE49-F238E27FC236}">
                <a16:creationId xmlns:a16="http://schemas.microsoft.com/office/drawing/2014/main" id="{A708604E-35F3-F6DE-F631-44ABBA30A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5FCA0C-9AC3-EC8A-E5CA-4287AAB6DC91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105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5413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1587614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171450" indent="-171450">
              <a:buFontTx/>
              <a:buChar char="-"/>
              <a:defRPr/>
            </a:pPr>
            <a:r>
              <a:rPr dirty="0"/>
              <a:t>Plugins (</a:t>
            </a:r>
            <a:r>
              <a:rPr dirty="0" err="1"/>
              <a:t>helmchart</a:t>
            </a:r>
            <a:r>
              <a:rPr dirty="0"/>
              <a:t>, </a:t>
            </a:r>
            <a:r>
              <a:rPr dirty="0" err="1"/>
              <a:t>dockerimage</a:t>
            </a:r>
            <a:r>
              <a:rPr dirty="0"/>
              <a:t>, terraform file, </a:t>
            </a:r>
            <a:r>
              <a:rPr dirty="0" err="1"/>
              <a:t>yaml</a:t>
            </a:r>
            <a:r>
              <a:rPr dirty="0"/>
              <a:t>, shell) </a:t>
            </a:r>
            <a:endParaRPr lang="fr-FR" dirty="0"/>
          </a:p>
          <a:p>
            <a:pPr marL="171450" indent="-171450">
              <a:buFontTx/>
              <a:buChar char="-"/>
              <a:defRPr/>
            </a:pPr>
            <a:r>
              <a:rPr lang="fr-FR" dirty="0"/>
              <a:t>Plusieurs sources/</a:t>
            </a:r>
            <a:r>
              <a:rPr lang="fr-FR" dirty="0" err="1"/>
              <a:t>target</a:t>
            </a:r>
            <a:r>
              <a:rPr lang="fr-FR" dirty="0"/>
              <a:t>/conditions possibles</a:t>
            </a:r>
          </a:p>
          <a:p>
            <a:pPr marL="0" indent="0">
              <a:buFontTx/>
              <a:buNone/>
              <a:defRPr/>
            </a:pPr>
            <a:r>
              <a:rPr lang="fr-FR" dirty="0"/>
              <a:t>- </a:t>
            </a:r>
            <a:r>
              <a:rPr dirty="0"/>
              <a:t>Parler du SCM (</a:t>
            </a:r>
            <a:r>
              <a:rPr dirty="0" err="1"/>
              <a:t>gitlab</a:t>
            </a:r>
            <a:r>
              <a:rPr dirty="0"/>
              <a:t>, </a:t>
            </a:r>
            <a:r>
              <a:rPr dirty="0" err="1"/>
              <a:t>github</a:t>
            </a:r>
            <a:r>
              <a:rPr dirty="0"/>
              <a:t> etc..)</a:t>
            </a:r>
            <a:endParaRPr lang="fr-FR" dirty="0"/>
          </a:p>
          <a:p>
            <a:pPr marL="171450" indent="-171450">
              <a:buFontTx/>
              <a:buChar char="-"/>
              <a:defRPr/>
            </a:pPr>
            <a:r>
              <a:rPr lang="fr-FR" dirty="0"/>
              <a:t>Souligner le fait qu’updatecli modifie une valeur dans un fichier</a:t>
            </a:r>
          </a:p>
          <a:p>
            <a:pPr marL="171450" indent="-171450">
              <a:buFontTx/>
              <a:buChar char="-"/>
              <a:defRPr/>
            </a:pPr>
            <a:r>
              <a:rPr lang="fr-FR" dirty="0"/>
              <a:t>Action : Créer une MR vers une branche de dev / qualif par ex</a:t>
            </a:r>
            <a:endParaRPr dirty="0"/>
          </a:p>
        </p:txBody>
      </p:sp>
      <p:sp>
        <p:nvSpPr>
          <p:cNvPr id="1093090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19F31-1A0C-0092-49CF-1D4FC71D365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55704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1372588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196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D8B180-F82B-B2BF-B6BF-55D8976D03B8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33F8-9262-C642-8D16-82F0F0B8F82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015068" name="Slide Image Placeholder 1">
            <a:extLst>
              <a:ext uri="{FF2B5EF4-FFF2-40B4-BE49-F238E27FC236}">
                <a16:creationId xmlns:a16="http://schemas.microsoft.com/office/drawing/2014/main" id="{0772519A-2C09-D3CB-D6BD-5C6C3DB42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144559396" name="Notes Placeholder 2">
            <a:extLst>
              <a:ext uri="{FF2B5EF4-FFF2-40B4-BE49-F238E27FC236}">
                <a16:creationId xmlns:a16="http://schemas.microsoft.com/office/drawing/2014/main" id="{D17D1922-B680-4734-180E-02C8655076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171450" indent="-171450">
              <a:buFontTx/>
              <a:buChar char="-"/>
              <a:defRPr/>
            </a:pPr>
            <a:r>
              <a:rPr lang="fr-FR" dirty="0"/>
              <a:t>Updatecli va gérer la </a:t>
            </a:r>
            <a:r>
              <a:rPr lang="fr-FR" dirty="0" err="1"/>
              <a:t>targetRevision</a:t>
            </a:r>
            <a:r>
              <a:rPr lang="fr-FR" dirty="0"/>
              <a:t> automatiquement</a:t>
            </a:r>
          </a:p>
          <a:p>
            <a:pPr marL="171450" indent="-171450">
              <a:buFontTx/>
              <a:buChar char="-"/>
              <a:defRPr/>
            </a:pPr>
            <a:r>
              <a:rPr lang="fr-FR" dirty="0"/>
              <a:t>Gitlab CI : Code qui s’exécute lorsque des actions sont détectées sur le repo (commit/push par ex)</a:t>
            </a:r>
            <a:endParaRPr dirty="0"/>
          </a:p>
        </p:txBody>
      </p:sp>
      <p:sp>
        <p:nvSpPr>
          <p:cNvPr id="1979844487" name="Slide Number Placeholder 3">
            <a:extLst>
              <a:ext uri="{FF2B5EF4-FFF2-40B4-BE49-F238E27FC236}">
                <a16:creationId xmlns:a16="http://schemas.microsoft.com/office/drawing/2014/main" id="{74E72083-E0B3-E006-F9F0-EE081EF30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F41BC-FDD8-CCCC-763C-74627A49BA3C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7336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32459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2083891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82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2A5E99-A25C-4629-2484-056843488C1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79435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489872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937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6BD7-B96B-0720-B9D9-2249F94BD0EA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48447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196762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171450" indent="-171450">
              <a:buFontTx/>
              <a:buChar char="-"/>
              <a:defRPr/>
            </a:pPr>
            <a:r>
              <a:rPr lang="fr-FR" dirty="0" err="1"/>
              <a:t>Manifests</a:t>
            </a:r>
            <a:r>
              <a:rPr lang="fr-FR" dirty="0"/>
              <a:t> plus poussé en prod (conditions, version patch/mineur etc..)</a:t>
            </a:r>
          </a:p>
          <a:p>
            <a:pPr marL="171450" indent="-171450">
              <a:buFontTx/>
              <a:buChar char="-"/>
              <a:defRPr/>
            </a:pPr>
            <a:r>
              <a:rPr lang="fr-FR" dirty="0"/>
              <a:t>Policy : Bundle de </a:t>
            </a:r>
            <a:r>
              <a:rPr lang="fr-FR" dirty="0" err="1"/>
              <a:t>manifest</a:t>
            </a:r>
            <a:r>
              <a:rPr lang="fr-FR" dirty="0"/>
              <a:t> updatecli</a:t>
            </a:r>
            <a:endParaRPr dirty="0"/>
          </a:p>
        </p:txBody>
      </p:sp>
      <p:sp>
        <p:nvSpPr>
          <p:cNvPr id="109040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8284CC-C672-2DBF-42E1-27C9A9C8D920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49386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fr-FR"/>
          </a:p>
        </p:txBody>
      </p:sp>
      <p:sp>
        <p:nvSpPr>
          <p:cNvPr id="58173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673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B26E70-D840-E83E-97AE-C5AB42102E76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Couver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37629193" name="Connecteur droit 1"/>
          <p:cNvCxnSpPr/>
          <p:nvPr userDrawn="1"/>
        </p:nvCxnSpPr>
        <p:spPr bwMode="auto">
          <a:xfrm>
            <a:off x="1306371" y="836712"/>
            <a:ext cx="0" cy="496855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3701034" name="Rectangle 2"/>
          <p:cNvSpPr/>
          <p:nvPr userDrawn="1"/>
        </p:nvSpPr>
        <p:spPr bwMode="gray">
          <a:xfrm>
            <a:off x="2135559" y="404664"/>
            <a:ext cx="10054320" cy="5724673"/>
          </a:xfrm>
          <a:prstGeom prst="rect">
            <a:avLst/>
          </a:prstGeom>
          <a:solidFill>
            <a:srgbClr val="153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1532408561" name="Imag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1489655409" name="Espace réservé du texte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94176" y="3168055"/>
            <a:ext cx="7537085" cy="9361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0" cap="none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/>
              <a:t>Sous-titre</a:t>
            </a:r>
            <a:endParaRPr/>
          </a:p>
        </p:txBody>
      </p:sp>
      <p:pic>
        <p:nvPicPr>
          <p:cNvPr id="666773393" name="Image 10" descr="Une image contenant texte, signe, jaune&#10;&#10;Description générée automatiquement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10747" y="854610"/>
            <a:ext cx="311150" cy="330200"/>
          </a:xfrm>
          <a:prstGeom prst="rect">
            <a:avLst/>
          </a:prstGeom>
        </p:spPr>
      </p:pic>
      <p:sp>
        <p:nvSpPr>
          <p:cNvPr id="1165164320" name="Espace réservé du texte 8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4251" y="1485654"/>
            <a:ext cx="1720343" cy="646331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 wrap="none" anchor="ctr">
            <a:spAutoFit/>
          </a:bodyPr>
          <a:lstStyle>
            <a:lvl1pPr marL="14287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ln cmpd="sng">
                  <a:noFill/>
                </a:ln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lvl="0">
              <a:defRPr/>
            </a:pPr>
            <a:r>
              <a:rPr lang="fr-FR"/>
              <a:t>TITRE </a:t>
            </a:r>
            <a:endParaRPr/>
          </a:p>
        </p:txBody>
      </p:sp>
      <p:sp>
        <p:nvSpPr>
          <p:cNvPr id="1263213622" name="Espace réservé du texte 8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4251" y="2307775"/>
            <a:ext cx="5256182" cy="646331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 wrap="none" anchor="ctr">
            <a:spAutoFit/>
          </a:bodyPr>
          <a:lstStyle>
            <a:lvl1pPr marL="144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3600" b="1" cap="none">
                <a:ln cmpd="sng">
                  <a:noFill/>
                </a:ln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marL="142875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/>
              <a:t>DE LA PRÉSENTATION</a:t>
            </a:r>
            <a:endParaRPr/>
          </a:p>
        </p:txBody>
      </p:sp>
      <p:sp>
        <p:nvSpPr>
          <p:cNvPr id="785074661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795543" y="5961479"/>
            <a:ext cx="1047041" cy="225961"/>
          </a:xfrm>
          <a:prstGeom prst="rect">
            <a:avLst/>
          </a:prstGeom>
          <a:solidFill>
            <a:srgbClr val="0063AF"/>
          </a:solidFill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fr-FR"/>
              <a:t> </a:t>
            </a:r>
            <a:endParaRPr/>
          </a:p>
        </p:txBody>
      </p:sp>
      <p:sp>
        <p:nvSpPr>
          <p:cNvPr id="64229655" name="Espace réservé de la date 5"/>
          <p:cNvSpPr>
            <a:spLocks noGrp="1"/>
          </p:cNvSpPr>
          <p:nvPr>
            <p:ph type="dt" sz="half" idx="2"/>
          </p:nvPr>
        </p:nvSpPr>
        <p:spPr bwMode="auto">
          <a:xfrm>
            <a:off x="795542" y="5961479"/>
            <a:ext cx="1047042" cy="22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fld id="{FB28FAB4-1314-4E8B-A990-C33CF2B201EE}" type="datetime4">
              <a:rPr lang="fr-FR"/>
              <a:t>10 décembre 2025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uver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34256858" name="Connecteur droit 1"/>
          <p:cNvCxnSpPr/>
          <p:nvPr userDrawn="1"/>
        </p:nvCxnSpPr>
        <p:spPr bwMode="auto">
          <a:xfrm>
            <a:off x="1306371" y="836712"/>
            <a:ext cx="0" cy="496855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5161441" name="Imag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1636576369" name="Espace réservé du texte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94176" y="3466007"/>
            <a:ext cx="7537085" cy="9361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lvl="0">
              <a:defRPr/>
            </a:pPr>
            <a:r>
              <a:rPr lang="fr-FR"/>
              <a:t>Sous-titre</a:t>
            </a:r>
            <a:endParaRPr/>
          </a:p>
        </p:txBody>
      </p:sp>
      <p:pic>
        <p:nvPicPr>
          <p:cNvPr id="1278262031" name="Image 10" descr="Une image contenant texte, signe, jaune&#10;&#10;Description générée automatiquement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10746" y="854610"/>
            <a:ext cx="312213" cy="330200"/>
          </a:xfrm>
          <a:prstGeom prst="rect">
            <a:avLst/>
          </a:prstGeom>
        </p:spPr>
      </p:pic>
      <p:sp>
        <p:nvSpPr>
          <p:cNvPr id="1415709102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795543" y="5961479"/>
            <a:ext cx="1047041" cy="225961"/>
          </a:xfrm>
          <a:prstGeom prst="rect">
            <a:avLst/>
          </a:prstGeom>
          <a:solidFill>
            <a:srgbClr val="0063AF"/>
          </a:solidFill>
        </p:spPr>
        <p:txBody>
          <a:bodyPr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fr-FR"/>
              <a:t> </a:t>
            </a:r>
            <a:endParaRPr/>
          </a:p>
        </p:txBody>
      </p:sp>
      <p:sp>
        <p:nvSpPr>
          <p:cNvPr id="886724539" name="Espace réservé de la date 5"/>
          <p:cNvSpPr>
            <a:spLocks noGrp="1"/>
          </p:cNvSpPr>
          <p:nvPr>
            <p:ph type="dt" sz="half" idx="2"/>
          </p:nvPr>
        </p:nvSpPr>
        <p:spPr bwMode="auto">
          <a:xfrm>
            <a:off x="795542" y="5961479"/>
            <a:ext cx="1047042" cy="22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fld id="{26DFFFEB-C081-4552-87F2-CB15B8796DFE}" type="datetime4">
              <a:rPr lang="fr-FR"/>
              <a:t>10 décembre 2025</a:t>
            </a:fld>
            <a:endParaRPr lang="fr-FR"/>
          </a:p>
        </p:txBody>
      </p:sp>
      <p:sp>
        <p:nvSpPr>
          <p:cNvPr id="1142494701" name="Espace réservé du texte 23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0745" y="1489869"/>
            <a:ext cx="1768905" cy="607219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>
            <a:noAutofit/>
          </a:bodyPr>
          <a:lstStyle>
            <a:lvl1pPr>
              <a:defRPr lang="fr-FR" sz="3600" b="1" cap="none">
                <a:ln cmpd="sng">
                  <a:noFill/>
                </a:ln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142875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/>
              <a:t>TITRE</a:t>
            </a:r>
            <a:endParaRPr/>
          </a:p>
        </p:txBody>
      </p:sp>
      <p:sp>
        <p:nvSpPr>
          <p:cNvPr id="598182505" name="Espace réservé du texte 2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8593" y="2369603"/>
            <a:ext cx="5253557" cy="609903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>
            <a:noAutofit/>
          </a:bodyPr>
          <a:lstStyle>
            <a:lvl1pPr>
              <a:defRPr lang="fr-FR" sz="3600" b="1" cap="none">
                <a:ln cmpd="sng">
                  <a:noFill/>
                </a:ln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142875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/>
              <a:t>DE LA PRÉSENTATION</a:t>
            </a:r>
            <a:endParaRPr/>
          </a:p>
        </p:txBody>
      </p:sp>
      <p:sp>
        <p:nvSpPr>
          <p:cNvPr id="584831295" name="Rectangle 1"/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900" b="0" i="0" u="none" strike="noStrike" cap="none">
                <a:ln>
                  <a:noFill/>
                </a:ln>
                <a:solidFill>
                  <a:schemeClr val="tx1"/>
                </a:solidFill>
                <a:latin typeface="Montserrat"/>
                <a:ea typeface="Calibri"/>
                <a:cs typeface="Times New Roman"/>
              </a:rPr>
              <a:t>C1 - Interne</a:t>
            </a:r>
            <a:r>
              <a:rPr lang="fr-FR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fr-FR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apitre avec bloc de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41787259" name="Connecteur droit 14"/>
          <p:cNvCxnSpPr/>
          <p:nvPr userDrawn="1"/>
        </p:nvCxnSpPr>
        <p:spPr bwMode="auto">
          <a:xfrm>
            <a:off x="1306371" y="3212976"/>
            <a:ext cx="0" cy="259228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9953106" name="Connecteur droit 15"/>
          <p:cNvCxnSpPr/>
          <p:nvPr userDrawn="1"/>
        </p:nvCxnSpPr>
        <p:spPr bwMode="auto">
          <a:xfrm>
            <a:off x="1306371" y="836712"/>
            <a:ext cx="0" cy="1080120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0592018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 b="1" i="0">
                <a:latin typeface="Open Sans ExtraBold"/>
                <a:ea typeface="Open Sans ExtraBold"/>
                <a:cs typeface="Open Sans ExtraBold"/>
              </a:rPr>
              <a:t>‹N°›</a:t>
            </a:fld>
            <a:endParaRPr lang="fr-FR" b="1" i="0">
              <a:latin typeface="Open Sans ExtraBold"/>
              <a:ea typeface="Open Sans ExtraBold"/>
              <a:cs typeface="Open Sans ExtraBold"/>
            </a:endParaRPr>
          </a:p>
        </p:txBody>
      </p:sp>
      <p:sp>
        <p:nvSpPr>
          <p:cNvPr id="633010332" name="Espace réservé du texte 8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23360" y="3352958"/>
            <a:ext cx="1601400" cy="646331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 wrap="none" anchor="ctr">
            <a:spAutoFit/>
          </a:bodyPr>
          <a:lstStyle>
            <a:lvl1pPr marL="144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ln cmpd="sng">
                  <a:noFill/>
                </a:ln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lvl="0">
              <a:defRPr/>
            </a:pPr>
            <a:r>
              <a:rPr lang="fr-FR"/>
              <a:t>TITRE</a:t>
            </a:r>
            <a:endParaRPr/>
          </a:p>
        </p:txBody>
      </p:sp>
      <p:sp>
        <p:nvSpPr>
          <p:cNvPr id="344963703" name="Espace réservé du texte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3360" y="4199071"/>
            <a:ext cx="3368936" cy="646331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 wrap="none" anchor="ctr">
            <a:spAutoFit/>
          </a:bodyPr>
          <a:lstStyle>
            <a:lvl1pPr marL="144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3600" b="1" i="0" cap="none">
                <a:ln cmpd="sng">
                  <a:noFill/>
                </a:ln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marL="14400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/>
              <a:t>DE LA PARTIE</a:t>
            </a:r>
            <a:endParaRPr/>
          </a:p>
        </p:txBody>
      </p:sp>
      <p:pic>
        <p:nvPicPr>
          <p:cNvPr id="2025809009" name="Image 22" descr="Une image contenant texte, signe, jaune&#10;&#10;Description générée automatiquement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619857" y="2494699"/>
            <a:ext cx="311150" cy="330200"/>
          </a:xfrm>
          <a:prstGeom prst="rect">
            <a:avLst/>
          </a:prstGeom>
        </p:spPr>
      </p:pic>
      <p:pic>
        <p:nvPicPr>
          <p:cNvPr id="1118961863" name="Imag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1114080131" name="Titre 5"/>
          <p:cNvSpPr>
            <a:spLocks noGrp="1"/>
          </p:cNvSpPr>
          <p:nvPr>
            <p:ph type="title" hasCustomPrompt="1"/>
          </p:nvPr>
        </p:nvSpPr>
        <p:spPr bwMode="gray">
          <a:xfrm>
            <a:off x="440506" y="1172584"/>
            <a:ext cx="1731728" cy="2179504"/>
          </a:xfrm>
          <a:prstGeom prst="rect">
            <a:avLst/>
          </a:prstGeom>
        </p:spPr>
        <p:txBody>
          <a:bodyPr anchor="b"/>
          <a:lstStyle>
            <a:lvl1pPr algn="ctr">
              <a:defRPr sz="10000" b="1" i="0">
                <a:solidFill>
                  <a:srgbClr val="2C256B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fr-FR"/>
              <a:t>1</a:t>
            </a:r>
            <a:endParaRPr/>
          </a:p>
        </p:txBody>
      </p:sp>
      <p:sp>
        <p:nvSpPr>
          <p:cNvPr id="947968989" name="Espace réservé du texte 30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368800" y="1066800"/>
            <a:ext cx="7199313" cy="4894263"/>
          </a:xfrm>
        </p:spPr>
        <p:txBody>
          <a:bodyPr/>
          <a:lstStyle>
            <a:lvl1pPr marL="0" indent="0">
              <a:buClr>
                <a:srgbClr val="FFC000"/>
              </a:buClr>
              <a:buFont typeface="Open Sans Extrabold"/>
              <a:buNone/>
              <a:defRPr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lvl="0">
              <a:defRPr/>
            </a:pPr>
            <a:r>
              <a:rPr lang="fr-FR"/>
              <a:t>Cliquez pour saisir votre texte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apitre avec emplacement graphiqu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32008897" name="Connecteur droit 14"/>
          <p:cNvCxnSpPr/>
          <p:nvPr userDrawn="1"/>
        </p:nvCxnSpPr>
        <p:spPr bwMode="auto">
          <a:xfrm>
            <a:off x="1306371" y="3212976"/>
            <a:ext cx="0" cy="259228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27258" name="Connecteur droit 15"/>
          <p:cNvCxnSpPr/>
          <p:nvPr userDrawn="1"/>
        </p:nvCxnSpPr>
        <p:spPr bwMode="auto">
          <a:xfrm>
            <a:off x="1306371" y="836712"/>
            <a:ext cx="0" cy="1080120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5390424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 b="1" i="0">
                <a:latin typeface="Open Sans ExtraBold"/>
                <a:ea typeface="Open Sans ExtraBold"/>
                <a:cs typeface="Open Sans ExtraBold"/>
              </a:rPr>
              <a:t>‹N°›</a:t>
            </a:fld>
            <a:endParaRPr lang="fr-FR" b="1" i="0">
              <a:latin typeface="Open Sans ExtraBold"/>
              <a:ea typeface="Open Sans ExtraBold"/>
              <a:cs typeface="Open Sans ExtraBold"/>
            </a:endParaRPr>
          </a:p>
        </p:txBody>
      </p:sp>
      <p:sp>
        <p:nvSpPr>
          <p:cNvPr id="572100841" name="Espace réservé du texte 8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23360" y="3352958"/>
            <a:ext cx="1601400" cy="646331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 wrap="none" anchor="ctr">
            <a:spAutoFit/>
          </a:bodyPr>
          <a:lstStyle>
            <a:lvl1pPr marL="144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ln cmpd="sng">
                  <a:noFill/>
                </a:ln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lvl="0">
              <a:defRPr/>
            </a:pPr>
            <a:r>
              <a:rPr lang="fr-FR"/>
              <a:t>TITRE</a:t>
            </a:r>
            <a:endParaRPr/>
          </a:p>
        </p:txBody>
      </p:sp>
      <p:sp>
        <p:nvSpPr>
          <p:cNvPr id="1904248301" name="Espace réservé du texte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3360" y="4199071"/>
            <a:ext cx="3368936" cy="646331"/>
          </a:xfrm>
          <a:prstGeom prst="rect">
            <a:avLst/>
          </a:prstGeom>
          <a:solidFill>
            <a:srgbClr val="0063AF"/>
          </a:solidFill>
          <a:ln>
            <a:noFill/>
          </a:ln>
        </p:spPr>
        <p:txBody>
          <a:bodyPr wrap="none" anchor="ctr">
            <a:spAutoFit/>
          </a:bodyPr>
          <a:lstStyle>
            <a:lvl1pPr marL="144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3600" b="1" i="0" cap="none">
                <a:ln cmpd="sng">
                  <a:noFill/>
                </a:ln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900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 marL="14400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/>
              <a:t>DE LA PARTIE</a:t>
            </a:r>
            <a:endParaRPr/>
          </a:p>
        </p:txBody>
      </p:sp>
      <p:pic>
        <p:nvPicPr>
          <p:cNvPr id="1837605157" name="Image 22" descr="Une image contenant texte, signe, jaune&#10;&#10;Description générée automatiquement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619857" y="2494699"/>
            <a:ext cx="311150" cy="330200"/>
          </a:xfrm>
          <a:prstGeom prst="rect">
            <a:avLst/>
          </a:prstGeom>
        </p:spPr>
      </p:pic>
      <p:pic>
        <p:nvPicPr>
          <p:cNvPr id="1393861386" name="Imag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427109866" name="Titre 5"/>
          <p:cNvSpPr>
            <a:spLocks noGrp="1"/>
          </p:cNvSpPr>
          <p:nvPr>
            <p:ph type="title" hasCustomPrompt="1"/>
          </p:nvPr>
        </p:nvSpPr>
        <p:spPr bwMode="gray">
          <a:xfrm>
            <a:off x="440506" y="1172584"/>
            <a:ext cx="1731728" cy="2179504"/>
          </a:xfrm>
          <a:prstGeom prst="rect">
            <a:avLst/>
          </a:prstGeom>
        </p:spPr>
        <p:txBody>
          <a:bodyPr anchor="b"/>
          <a:lstStyle>
            <a:lvl1pPr algn="ctr">
              <a:defRPr sz="10000" b="1" i="0">
                <a:solidFill>
                  <a:srgbClr val="2C256B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fr-FR"/>
              <a:t>1</a:t>
            </a:r>
            <a:endParaRPr/>
          </a:p>
        </p:txBody>
      </p:sp>
      <p:sp>
        <p:nvSpPr>
          <p:cNvPr id="83009790" name="Espace réservé du contenu 6"/>
          <p:cNvSpPr>
            <a:spLocks noGrp="1"/>
          </p:cNvSpPr>
          <p:nvPr>
            <p:ph sz="quarter" idx="23" hasCustomPrompt="1"/>
          </p:nvPr>
        </p:nvSpPr>
        <p:spPr bwMode="gray">
          <a:xfrm>
            <a:off x="4658662" y="601883"/>
            <a:ext cx="6909978" cy="5527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431799" indent="-142875">
              <a:buFontTx/>
              <a:buBlip>
                <a:blip r:embed="rId4"/>
              </a:buBlip>
              <a:defRPr/>
            </a:lvl2pPr>
            <a:lvl3pPr marL="432924">
              <a:defRPr/>
            </a:lvl3pPr>
            <a:lvl4pPr>
              <a:defRPr b="0" i="0">
                <a:latin typeface="Montserrat Light"/>
              </a:defRPr>
            </a:lvl4pPr>
          </a:lstStyle>
          <a:p>
            <a:pPr lvl="0">
              <a:defRPr/>
            </a:pPr>
            <a:r>
              <a:rPr lang="fr-FR"/>
              <a:t>Emplacement graphique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isposition de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895165317" name="Connecteur droit 12"/>
          <p:cNvCxnSpPr/>
          <p:nvPr userDrawn="1"/>
        </p:nvCxnSpPr>
        <p:spPr bwMode="auto">
          <a:xfrm>
            <a:off x="1487999" y="1052736"/>
            <a:ext cx="0" cy="20162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6874913" name="Connecteur droit 13"/>
          <p:cNvCxnSpPr/>
          <p:nvPr userDrawn="1"/>
        </p:nvCxnSpPr>
        <p:spPr bwMode="auto">
          <a:xfrm>
            <a:off x="1487999" y="3709672"/>
            <a:ext cx="0" cy="18075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686397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66762" y="1052737"/>
            <a:ext cx="1108337" cy="46805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lang="fr-FR" sz="900" b="0" i="0" cap="none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r>
              <a:rPr lang="fr-FR"/>
              <a:t>Titre </a:t>
            </a:r>
            <a:br>
              <a:rPr lang="fr-FR"/>
            </a:br>
            <a:r>
              <a:rPr lang="fr-FR"/>
              <a:t>de la partie</a:t>
            </a:r>
          </a:p>
        </p:txBody>
      </p:sp>
      <p:cxnSp>
        <p:nvCxnSpPr>
          <p:cNvPr id="1590793312" name="Connecteur droit 20"/>
          <p:cNvCxnSpPr/>
          <p:nvPr userDrawn="1"/>
        </p:nvCxnSpPr>
        <p:spPr bwMode="auto">
          <a:xfrm>
            <a:off x="1306371" y="836712"/>
            <a:ext cx="0" cy="223224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500738" name="Connecteur droit 21"/>
          <p:cNvCxnSpPr/>
          <p:nvPr userDrawn="1"/>
        </p:nvCxnSpPr>
        <p:spPr bwMode="auto">
          <a:xfrm>
            <a:off x="1306371" y="3709672"/>
            <a:ext cx="0" cy="209559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4191871" name="Image 2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1298275717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 b="1" i="0">
                <a:latin typeface="Open Sans ExtraBold"/>
                <a:ea typeface="Open Sans ExtraBold"/>
                <a:cs typeface="Open Sans ExtraBold"/>
              </a:rPr>
              <a:t>‹N°›</a:t>
            </a:fld>
            <a:endParaRPr lang="fr-FR" b="1" i="0">
              <a:latin typeface="Open Sans ExtraBold"/>
              <a:ea typeface="Open Sans ExtraBold"/>
              <a:cs typeface="Open Sans ExtraBold"/>
            </a:endParaRPr>
          </a:p>
        </p:txBody>
      </p:sp>
      <p:sp>
        <p:nvSpPr>
          <p:cNvPr id="241136361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135558" y="507811"/>
            <a:ext cx="9289034" cy="46831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0" i="0">
                <a:latin typeface="Open Sans Light"/>
                <a:ea typeface="Open Sans Light"/>
                <a:cs typeface="Open Sans Light"/>
              </a:defRPr>
            </a:lvl1pPr>
          </a:lstStyle>
          <a:p>
            <a:pPr lvl="0">
              <a:defRPr/>
            </a:pPr>
            <a:r>
              <a:rPr lang="fr-FR"/>
              <a:t>L’idée force de la diapositive </a:t>
            </a:r>
            <a:endParaRPr/>
          </a:p>
        </p:txBody>
      </p:sp>
      <p:sp>
        <p:nvSpPr>
          <p:cNvPr id="1821084077" name="Espace réservé du texte 2"/>
          <p:cNvSpPr>
            <a:spLocks noGrp="1"/>
          </p:cNvSpPr>
          <p:nvPr>
            <p:ph idx="1" hasCustomPrompt="1"/>
          </p:nvPr>
        </p:nvSpPr>
        <p:spPr bwMode="auto">
          <a:xfrm>
            <a:off x="2135558" y="1376363"/>
            <a:ext cx="8470751" cy="4810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Clr>
                <a:srgbClr val="FFC000"/>
              </a:buClr>
              <a:buFont typeface="Open Sans ExtraBold"/>
              <a:buNone/>
              <a:defRPr sz="2000"/>
            </a:lvl1pPr>
          </a:lstStyle>
          <a:p>
            <a:pPr lvl="0">
              <a:defRPr/>
            </a:pPr>
            <a:r>
              <a:rPr lang="fr-FR"/>
              <a:t>Saisissez votre texte puis utilisez les indentations pour obtenir le style des différents niveaux de texte – Texte de niveau 1</a:t>
            </a:r>
            <a:endParaRPr/>
          </a:p>
          <a:p>
            <a:pPr lvl="0">
              <a:defRPr/>
            </a:pPr>
            <a:endParaRPr lang="fr-FR"/>
          </a:p>
          <a:p>
            <a:pPr lvl="0"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isposition de contenu et encar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014074" name="Espace réservé du texte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135559" y="5611934"/>
            <a:ext cx="9289034" cy="517404"/>
          </a:xfrm>
          <a:prstGeom prst="rect">
            <a:avLst/>
          </a:prstGeom>
          <a:noFill/>
          <a:ln>
            <a:solidFill>
              <a:srgbClr val="0063AF"/>
            </a:solidFill>
          </a:ln>
        </p:spPr>
        <p:txBody>
          <a:bodyPr wrap="square" lIns="252000" tIns="180000" rIns="72000" bIns="180000" anchor="b">
            <a:sp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 i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lvl="0">
              <a:defRPr/>
            </a:pPr>
            <a:r>
              <a:rPr lang="fr-FR"/>
              <a:t>Texte optionnel</a:t>
            </a:r>
            <a:endParaRPr/>
          </a:p>
        </p:txBody>
      </p:sp>
      <p:cxnSp>
        <p:nvCxnSpPr>
          <p:cNvPr id="1672371703" name="Connecteur droit 4"/>
          <p:cNvCxnSpPr/>
          <p:nvPr userDrawn="1"/>
        </p:nvCxnSpPr>
        <p:spPr bwMode="auto">
          <a:xfrm>
            <a:off x="1306371" y="836712"/>
            <a:ext cx="0" cy="223224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627384" name="Connecteur droit 5"/>
          <p:cNvCxnSpPr/>
          <p:nvPr userDrawn="1"/>
        </p:nvCxnSpPr>
        <p:spPr bwMode="auto">
          <a:xfrm>
            <a:off x="1306371" y="3709672"/>
            <a:ext cx="0" cy="209559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9655977" name="Image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1531903344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135558" y="507811"/>
            <a:ext cx="9289034" cy="46831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0" i="0">
                <a:latin typeface="Open Sans Light"/>
                <a:ea typeface="Open Sans Light"/>
                <a:cs typeface="Open Sans Light"/>
              </a:defRPr>
            </a:lvl1pPr>
          </a:lstStyle>
          <a:p>
            <a:pPr lvl="0">
              <a:defRPr/>
            </a:pPr>
            <a:r>
              <a:rPr lang="fr-FR"/>
              <a:t>L’idée force de la diapositive</a:t>
            </a:r>
            <a:endParaRPr/>
          </a:p>
        </p:txBody>
      </p:sp>
      <p:sp>
        <p:nvSpPr>
          <p:cNvPr id="2101360762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 b="1" i="0">
                <a:latin typeface="Open Sans ExtraBold"/>
                <a:ea typeface="Open Sans ExtraBold"/>
                <a:cs typeface="Open Sans ExtraBold"/>
              </a:rPr>
              <a:t>‹N°›</a:t>
            </a:fld>
            <a:endParaRPr lang="fr-FR" b="1" i="0">
              <a:latin typeface="Open Sans ExtraBold"/>
              <a:ea typeface="Open Sans ExtraBold"/>
              <a:cs typeface="Open Sans ExtraBold"/>
            </a:endParaRPr>
          </a:p>
        </p:txBody>
      </p:sp>
      <p:sp>
        <p:nvSpPr>
          <p:cNvPr id="1076626719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66762" y="1052737"/>
            <a:ext cx="1108337" cy="4680519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r>
              <a:rPr lang="fr-FR"/>
              <a:t>Titre </a:t>
            </a:r>
            <a:br>
              <a:rPr lang="fr-FR"/>
            </a:br>
            <a:r>
              <a:rPr lang="fr-FR"/>
              <a:t>de la partie</a:t>
            </a:r>
          </a:p>
        </p:txBody>
      </p:sp>
      <p:sp>
        <p:nvSpPr>
          <p:cNvPr id="854454800" name="Espace réservé du contenu 15"/>
          <p:cNvSpPr>
            <a:spLocks noGrp="1"/>
          </p:cNvSpPr>
          <p:nvPr>
            <p:ph sz="quarter" idx="22" hasCustomPrompt="1"/>
          </p:nvPr>
        </p:nvSpPr>
        <p:spPr bwMode="auto">
          <a:xfrm>
            <a:off x="2122136" y="1388955"/>
            <a:ext cx="9289034" cy="4006602"/>
          </a:xfrm>
        </p:spPr>
        <p:txBody>
          <a:bodyPr/>
          <a:lstStyle>
            <a:lvl1pPr marL="0" indent="0">
              <a:buClr>
                <a:srgbClr val="FFD000"/>
              </a:buClr>
              <a:buFont typeface="Open Sans ExtraBold"/>
              <a:buNone/>
              <a:defRPr/>
            </a:lvl1pPr>
            <a:lvl2pPr>
              <a:defRPr/>
            </a:lvl2pPr>
          </a:lstStyle>
          <a:p>
            <a:pPr lvl="0">
              <a:defRPr/>
            </a:pPr>
            <a:r>
              <a:rPr lang="fr-FR"/>
              <a:t>Saisissez votre texte, puis utilisez les indentations pour obtenir le style des différents niveaux de texte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Disposition de contenu et encar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82763498" name="Connecteur droit 4"/>
          <p:cNvCxnSpPr/>
          <p:nvPr userDrawn="1"/>
        </p:nvCxnSpPr>
        <p:spPr bwMode="auto">
          <a:xfrm>
            <a:off x="1306371" y="836712"/>
            <a:ext cx="0" cy="223224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070801" name="Connecteur droit 5"/>
          <p:cNvCxnSpPr/>
          <p:nvPr userDrawn="1"/>
        </p:nvCxnSpPr>
        <p:spPr bwMode="auto">
          <a:xfrm>
            <a:off x="1306371" y="3709672"/>
            <a:ext cx="0" cy="209559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92355931" name="Image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522665289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135558" y="507811"/>
            <a:ext cx="9289034" cy="46831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0" i="0">
                <a:latin typeface="Open Sans Light"/>
                <a:ea typeface="Open Sans Light"/>
                <a:cs typeface="Open Sans Light"/>
              </a:defRPr>
            </a:lvl1pPr>
          </a:lstStyle>
          <a:p>
            <a:pPr lvl="0">
              <a:defRPr/>
            </a:pPr>
            <a:r>
              <a:rPr lang="fr-FR"/>
              <a:t>L’idée force de la diapositive</a:t>
            </a:r>
            <a:endParaRPr/>
          </a:p>
        </p:txBody>
      </p:sp>
      <p:sp>
        <p:nvSpPr>
          <p:cNvPr id="1347464464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 b="1" i="0">
                <a:latin typeface="Open Sans ExtraBold"/>
                <a:ea typeface="Open Sans ExtraBold"/>
                <a:cs typeface="Open Sans ExtraBold"/>
              </a:rPr>
              <a:t>‹N°›</a:t>
            </a:fld>
            <a:endParaRPr lang="fr-FR" b="1" i="0">
              <a:latin typeface="Open Sans ExtraBold"/>
              <a:ea typeface="Open Sans ExtraBold"/>
              <a:cs typeface="Open Sans ExtraBold"/>
            </a:endParaRPr>
          </a:p>
        </p:txBody>
      </p:sp>
      <p:sp>
        <p:nvSpPr>
          <p:cNvPr id="2001984201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66762" y="1052737"/>
            <a:ext cx="1108337" cy="4680519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r>
              <a:rPr lang="fr-FR"/>
              <a:t>Titre </a:t>
            </a:r>
            <a:br>
              <a:rPr lang="fr-FR"/>
            </a:br>
            <a:r>
              <a:rPr lang="fr-FR"/>
              <a:t>de la partie</a:t>
            </a:r>
          </a:p>
        </p:txBody>
      </p:sp>
      <p:graphicFrame>
        <p:nvGraphicFramePr>
          <p:cNvPr id="867315386" name="Tableau 10"/>
          <p:cNvGraphicFramePr>
            <a:graphicFrameLocks noGrp="1"/>
          </p:cNvGraphicFramePr>
          <p:nvPr userDrawn="1"/>
        </p:nvGraphicFramePr>
        <p:xfrm>
          <a:off x="2591817" y="2279736"/>
          <a:ext cx="8128000" cy="2165726"/>
        </p:xfrm>
        <a:graphic>
          <a:graphicData uri="http://schemas.openxmlformats.org/drawingml/2006/table">
            <a:tbl>
              <a:tblPr firstRow="1" bandRow="1"/>
              <a:tblGrid>
                <a:gridCol w="670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rgbClr val="0063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rgbClr val="0063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rgbClr val="0063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rgbClr val="0063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fr-FR" sz="1200" b="1">
                          <a:solidFill>
                            <a:srgbClr val="153D8A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9525" algn="ctr">
                      <a:solidFill>
                        <a:srgbClr val="0063AF"/>
                      </a:solidFill>
                    </a:lnT>
                    <a:lnB w="9525" algn="ctr">
                      <a:solidFill>
                        <a:srgbClr val="0063AF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4599725" name="Espace réservé du texte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135558" y="1663356"/>
            <a:ext cx="9289034" cy="578959"/>
          </a:xfrm>
          <a:prstGeom prst="rect">
            <a:avLst/>
          </a:prstGeom>
          <a:noFill/>
          <a:ln>
            <a:noFill/>
          </a:ln>
        </p:spPr>
        <p:txBody>
          <a:bodyPr wrap="square" lIns="252000" tIns="180000" rIns="72000" bIns="180000" anchor="b">
            <a:spAutoFit/>
          </a:bodyPr>
          <a:lstStyle>
            <a:lvl1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1" i="0">
                <a:solidFill>
                  <a:srgbClr val="00B0F0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lvl="0">
              <a:defRPr/>
            </a:pPr>
            <a:r>
              <a:rPr lang="fr-FR"/>
              <a:t>Titre du tableau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isposition de contenu et encar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680491" name="Espace réservé du texte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135559" y="5611934"/>
            <a:ext cx="9289034" cy="517404"/>
          </a:xfrm>
          <a:prstGeom prst="rect">
            <a:avLst/>
          </a:prstGeom>
          <a:noFill/>
          <a:ln>
            <a:solidFill>
              <a:srgbClr val="0063AF"/>
            </a:solidFill>
          </a:ln>
        </p:spPr>
        <p:txBody>
          <a:bodyPr wrap="square" lIns="252000" tIns="180000" rIns="72000" bIns="180000" anchor="b">
            <a:sp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i="0">
                <a:solidFill>
                  <a:srgbClr val="153D8A"/>
                </a:solidFill>
              </a:defRPr>
            </a:lvl1pPr>
          </a:lstStyle>
          <a:p>
            <a:pPr lvl="0">
              <a:defRPr/>
            </a:pPr>
            <a:r>
              <a:rPr lang="fr-FR"/>
              <a:t>Texte optionnel</a:t>
            </a:r>
            <a:endParaRPr/>
          </a:p>
        </p:txBody>
      </p:sp>
      <p:cxnSp>
        <p:nvCxnSpPr>
          <p:cNvPr id="1704900983" name="Connecteur droit 4"/>
          <p:cNvCxnSpPr/>
          <p:nvPr userDrawn="1"/>
        </p:nvCxnSpPr>
        <p:spPr bwMode="auto">
          <a:xfrm>
            <a:off x="1306371" y="836712"/>
            <a:ext cx="0" cy="223224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606379" name="Connecteur droit 5"/>
          <p:cNvCxnSpPr/>
          <p:nvPr userDrawn="1"/>
        </p:nvCxnSpPr>
        <p:spPr bwMode="auto">
          <a:xfrm>
            <a:off x="1306371" y="3709672"/>
            <a:ext cx="0" cy="209559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7272547" name="Image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cxnSp>
        <p:nvCxnSpPr>
          <p:cNvPr id="318884045" name="Connecteur droit 9"/>
          <p:cNvCxnSpPr/>
          <p:nvPr userDrawn="1"/>
        </p:nvCxnSpPr>
        <p:spPr bwMode="auto">
          <a:xfrm>
            <a:off x="6783806" y="1412775"/>
            <a:ext cx="0" cy="396044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636912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135558" y="507811"/>
            <a:ext cx="9289034" cy="46831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0" i="0">
                <a:latin typeface="Open Sans Light"/>
                <a:ea typeface="Open Sans Light"/>
                <a:cs typeface="Open Sans Light"/>
              </a:defRPr>
            </a:lvl1pPr>
          </a:lstStyle>
          <a:p>
            <a:pPr lvl="0">
              <a:defRPr/>
            </a:pPr>
            <a:r>
              <a:rPr lang="fr-FR"/>
              <a:t>L’idée force de la diapositive</a:t>
            </a:r>
            <a:endParaRPr/>
          </a:p>
        </p:txBody>
      </p:sp>
      <p:sp>
        <p:nvSpPr>
          <p:cNvPr id="383332839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/>
              <a:t>‹N°›</a:t>
            </a:fld>
            <a:endParaRPr lang="fr-FR"/>
          </a:p>
        </p:txBody>
      </p:sp>
      <p:sp>
        <p:nvSpPr>
          <p:cNvPr id="1871215405" name="Espace réservé du contenu 13"/>
          <p:cNvSpPr>
            <a:spLocks noGrp="1"/>
          </p:cNvSpPr>
          <p:nvPr>
            <p:ph sz="quarter" idx="24" hasCustomPrompt="1"/>
          </p:nvPr>
        </p:nvSpPr>
        <p:spPr bwMode="auto">
          <a:xfrm>
            <a:off x="2134865" y="1412402"/>
            <a:ext cx="4321175" cy="3960813"/>
          </a:xfrm>
        </p:spPr>
        <p:txBody>
          <a:bodyPr/>
          <a:lstStyle>
            <a:lvl1pPr marL="0" indent="0">
              <a:buClr>
                <a:srgbClr val="FFD000"/>
              </a:buClr>
              <a:buFont typeface="Arial"/>
              <a:buNone/>
              <a:defRPr/>
            </a:lvl1pPr>
            <a:lvl2pPr>
              <a:defRPr/>
            </a:lvl2pPr>
            <a:lvl4pPr marL="671513" indent="0">
              <a:buFont typeface="Wingdings"/>
              <a:buNone/>
              <a:defRPr/>
            </a:lvl4pPr>
          </a:lstStyle>
          <a:p>
            <a:pPr lvl="0">
              <a:defRPr/>
            </a:pPr>
            <a:r>
              <a:rPr lang="fr-FR"/>
              <a:t>Saisissez votre texte, puis utilisez les indentations</a:t>
            </a:r>
            <a:endParaRPr/>
          </a:p>
          <a:p>
            <a:pPr lvl="1">
              <a:defRPr/>
            </a:pPr>
            <a:r>
              <a:rPr lang="fr-FR"/>
              <a:t>Texte de niveau 2</a:t>
            </a:r>
            <a:endParaRPr/>
          </a:p>
          <a:p>
            <a:pPr lvl="2">
              <a:defRPr/>
            </a:pPr>
            <a:r>
              <a:rPr lang="fr-FR"/>
              <a:t>Texte de niveau 3</a:t>
            </a:r>
            <a:endParaRPr/>
          </a:p>
          <a:p>
            <a:pPr lvl="3">
              <a:defRPr/>
            </a:pPr>
            <a:r>
              <a:rPr lang="fr-FR"/>
              <a:t>Texte de niveau 4</a:t>
            </a:r>
            <a:endParaRPr/>
          </a:p>
        </p:txBody>
      </p:sp>
      <p:sp>
        <p:nvSpPr>
          <p:cNvPr id="741787768" name="Espace réservé du contenu 13"/>
          <p:cNvSpPr>
            <a:spLocks noGrp="1"/>
          </p:cNvSpPr>
          <p:nvPr>
            <p:ph sz="quarter" idx="25" hasCustomPrompt="1"/>
          </p:nvPr>
        </p:nvSpPr>
        <p:spPr bwMode="auto">
          <a:xfrm>
            <a:off x="7111573" y="1412404"/>
            <a:ext cx="4321175" cy="3960813"/>
          </a:xfrm>
        </p:spPr>
        <p:txBody>
          <a:bodyPr/>
          <a:lstStyle>
            <a:lvl1pPr marL="0" indent="0">
              <a:buClr>
                <a:srgbClr val="FFD000"/>
              </a:buClr>
              <a:buFont typeface="Arial"/>
              <a:buNone/>
              <a:defRPr/>
            </a:lvl1pPr>
            <a:lvl2pPr>
              <a:defRPr/>
            </a:lvl2pPr>
            <a:lvl3pPr marL="671513" indent="0">
              <a:buClr>
                <a:srgbClr val="FFD000"/>
              </a:buClr>
              <a:buFont typeface="Wingdings"/>
              <a:buNone/>
              <a:defRPr/>
            </a:lvl3pPr>
          </a:lstStyle>
          <a:p>
            <a:pPr lvl="0">
              <a:defRPr/>
            </a:pPr>
            <a:r>
              <a:rPr lang="fr-FR"/>
              <a:t>Saisissez votre texte, puis utilisez les indentations </a:t>
            </a:r>
            <a:endParaRPr/>
          </a:p>
          <a:p>
            <a:pPr lvl="1">
              <a:defRPr/>
            </a:pPr>
            <a:r>
              <a:rPr lang="fr-FR"/>
              <a:t>Texte de niveau 2</a:t>
            </a:r>
            <a:endParaRPr/>
          </a:p>
          <a:p>
            <a:pPr lvl="2">
              <a:defRPr/>
            </a:pPr>
            <a:r>
              <a:rPr lang="fr-FR"/>
              <a:t>Texte de niveau 3</a:t>
            </a:r>
            <a:endParaRPr/>
          </a:p>
          <a:p>
            <a:pPr lvl="3">
              <a:defRPr/>
            </a:pPr>
            <a:r>
              <a:rPr lang="fr-FR"/>
              <a:t>Texte de niveau 4</a:t>
            </a:r>
            <a:endParaRPr/>
          </a:p>
        </p:txBody>
      </p:sp>
      <p:sp>
        <p:nvSpPr>
          <p:cNvPr id="121357469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66762" y="1052737"/>
            <a:ext cx="1108337" cy="4680519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r>
              <a:rPr lang="fr-FR"/>
              <a:t>Titre </a:t>
            </a:r>
            <a:br>
              <a:rPr lang="fr-FR"/>
            </a:br>
            <a:r>
              <a:rPr lang="fr-FR"/>
              <a:t>de la partie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Disposition de contenu et encar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730795" name="Espace réservé du texte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135559" y="5611934"/>
            <a:ext cx="9289034" cy="517404"/>
          </a:xfrm>
          <a:prstGeom prst="rect">
            <a:avLst/>
          </a:prstGeom>
          <a:noFill/>
          <a:ln>
            <a:solidFill>
              <a:srgbClr val="0063AF"/>
            </a:solidFill>
          </a:ln>
        </p:spPr>
        <p:txBody>
          <a:bodyPr wrap="square" lIns="252000" tIns="180000" rIns="72000" bIns="180000" anchor="b">
            <a:sp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i="0">
                <a:solidFill>
                  <a:srgbClr val="153D8A"/>
                </a:solidFill>
              </a:defRPr>
            </a:lvl1pPr>
          </a:lstStyle>
          <a:p>
            <a:pPr lvl="0">
              <a:defRPr/>
            </a:pPr>
            <a:r>
              <a:rPr lang="fr-FR"/>
              <a:t>Texte optionnel</a:t>
            </a:r>
            <a:endParaRPr/>
          </a:p>
        </p:txBody>
      </p:sp>
      <p:cxnSp>
        <p:nvCxnSpPr>
          <p:cNvPr id="637546191" name="Connecteur droit 25"/>
          <p:cNvCxnSpPr/>
          <p:nvPr userDrawn="1"/>
        </p:nvCxnSpPr>
        <p:spPr bwMode="auto">
          <a:xfrm>
            <a:off x="1306371" y="836712"/>
            <a:ext cx="0" cy="223224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4985155" name="Connecteur droit 26"/>
          <p:cNvCxnSpPr/>
          <p:nvPr userDrawn="1"/>
        </p:nvCxnSpPr>
        <p:spPr bwMode="auto">
          <a:xfrm>
            <a:off x="1306371" y="3709672"/>
            <a:ext cx="0" cy="209559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50078057" name="Image 2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611332439" name="Espace réservé du contenu 6"/>
          <p:cNvSpPr>
            <a:spLocks noGrp="1"/>
          </p:cNvSpPr>
          <p:nvPr>
            <p:ph sz="quarter" idx="23" hasCustomPrompt="1"/>
          </p:nvPr>
        </p:nvSpPr>
        <p:spPr bwMode="gray">
          <a:xfrm>
            <a:off x="6783806" y="1412775"/>
            <a:ext cx="4640787" cy="3960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431799" indent="-142875">
              <a:buFontTx/>
              <a:buBlip>
                <a:blip r:embed="rId3"/>
              </a:buBlip>
              <a:defRPr/>
            </a:lvl2pPr>
            <a:lvl3pPr marL="432924">
              <a:defRPr/>
            </a:lvl3pPr>
            <a:lvl4pPr>
              <a:defRPr b="0" i="0">
                <a:latin typeface="Montserrat Light"/>
              </a:defRPr>
            </a:lvl4pPr>
          </a:lstStyle>
          <a:p>
            <a:pPr lvl="0">
              <a:defRPr/>
            </a:pPr>
            <a:r>
              <a:rPr lang="fr-FR"/>
              <a:t>Emplacement graphique</a:t>
            </a:r>
            <a:endParaRPr/>
          </a:p>
        </p:txBody>
      </p:sp>
      <p:sp>
        <p:nvSpPr>
          <p:cNvPr id="1893164662" name="Espace réservé du texte 3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135558" y="507811"/>
            <a:ext cx="9289034" cy="46831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0" i="0">
                <a:latin typeface="Open Sans Light"/>
                <a:ea typeface="Open Sans Light"/>
                <a:cs typeface="Open Sans Light"/>
              </a:defRPr>
            </a:lvl1pPr>
          </a:lstStyle>
          <a:p>
            <a:pPr lvl="0">
              <a:defRPr/>
            </a:pPr>
            <a:r>
              <a:rPr lang="fr-FR"/>
              <a:t>L’idée force de la diapositive</a:t>
            </a:r>
            <a:endParaRPr/>
          </a:p>
        </p:txBody>
      </p:sp>
      <p:sp>
        <p:nvSpPr>
          <p:cNvPr id="1364758028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/>
              <a:t>‹N°›</a:t>
            </a:fld>
            <a:endParaRPr lang="fr-FR"/>
          </a:p>
        </p:txBody>
      </p:sp>
      <p:sp>
        <p:nvSpPr>
          <p:cNvPr id="937175690" name="Espace réservé du contenu 13"/>
          <p:cNvSpPr>
            <a:spLocks noGrp="1"/>
          </p:cNvSpPr>
          <p:nvPr>
            <p:ph sz="quarter" idx="24" hasCustomPrompt="1"/>
          </p:nvPr>
        </p:nvSpPr>
        <p:spPr bwMode="auto">
          <a:xfrm>
            <a:off x="2135558" y="1412402"/>
            <a:ext cx="4321175" cy="3960813"/>
          </a:xfrm>
        </p:spPr>
        <p:txBody>
          <a:bodyPr/>
          <a:lstStyle>
            <a:lvl1pPr marL="0" indent="0">
              <a:buClr>
                <a:srgbClr val="FFD000"/>
              </a:buClr>
              <a:buFont typeface="Arial"/>
              <a:buNone/>
              <a:defRPr/>
            </a:lvl1pPr>
            <a:lvl2pPr>
              <a:defRPr/>
            </a:lvl2pPr>
            <a:lvl3pPr marL="671513" indent="0">
              <a:buClr>
                <a:srgbClr val="FFD000"/>
              </a:buClr>
              <a:buFont typeface="Wingdings"/>
              <a:buNone/>
              <a:defRPr/>
            </a:lvl3pPr>
          </a:lstStyle>
          <a:p>
            <a:pPr lvl="0">
              <a:defRPr/>
            </a:pPr>
            <a:r>
              <a:rPr lang="fr-FR"/>
              <a:t>Saisissez votre texte, puis utilisez les indentations</a:t>
            </a:r>
            <a:endParaRPr/>
          </a:p>
          <a:p>
            <a:pPr lvl="1">
              <a:defRPr/>
            </a:pPr>
            <a:r>
              <a:rPr lang="fr-FR"/>
              <a:t>Texte de niveau 2</a:t>
            </a:r>
            <a:endParaRPr/>
          </a:p>
          <a:p>
            <a:pPr lvl="2">
              <a:defRPr/>
            </a:pPr>
            <a:r>
              <a:rPr lang="fr-FR"/>
              <a:t>Texte de niveau 3</a:t>
            </a:r>
            <a:endParaRPr/>
          </a:p>
          <a:p>
            <a:pPr lvl="3">
              <a:defRPr/>
            </a:pPr>
            <a:r>
              <a:rPr lang="fr-FR"/>
              <a:t>Texte de niveau 4</a:t>
            </a:r>
            <a:endParaRPr/>
          </a:p>
        </p:txBody>
      </p:sp>
      <p:sp>
        <p:nvSpPr>
          <p:cNvPr id="1717773236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66762" y="1052737"/>
            <a:ext cx="1108337" cy="4680519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r>
              <a:rPr lang="fr-FR"/>
              <a:t>Titre </a:t>
            </a:r>
            <a:br>
              <a:rPr lang="fr-FR"/>
            </a:br>
            <a:r>
              <a:rPr lang="fr-FR"/>
              <a:t>de la partie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isposition personnalisé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35832" name="Espace réservé du texte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00263" y="2565400"/>
            <a:ext cx="9211427" cy="2828925"/>
          </a:xfrm>
        </p:spPr>
        <p:txBody>
          <a:bodyPr>
            <a:normAutofit/>
          </a:bodyPr>
          <a:lstStyle>
            <a:lvl1pPr marL="0" indent="0" algn="ctr">
              <a:buClr>
                <a:srgbClr val="FFD000"/>
              </a:buClr>
              <a:buFont typeface="Arial"/>
              <a:buNone/>
              <a:defRPr sz="3600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>
              <a:defRPr/>
            </a:pPr>
            <a:r>
              <a:rPr lang="fr-FR"/>
              <a:t>Merci</a:t>
            </a:r>
            <a:endParaRPr/>
          </a:p>
        </p:txBody>
      </p:sp>
      <p:cxnSp>
        <p:nvCxnSpPr>
          <p:cNvPr id="1180817697" name="Connecteur droit 9"/>
          <p:cNvCxnSpPr/>
          <p:nvPr userDrawn="1"/>
        </p:nvCxnSpPr>
        <p:spPr bwMode="auto">
          <a:xfrm>
            <a:off x="1306371" y="981075"/>
            <a:ext cx="21915" cy="2060508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067876" name="Connecteur droit 10"/>
          <p:cNvCxnSpPr/>
          <p:nvPr userDrawn="1"/>
        </p:nvCxnSpPr>
        <p:spPr bwMode="auto">
          <a:xfrm>
            <a:off x="1306371" y="3709672"/>
            <a:ext cx="0" cy="2095592"/>
          </a:xfrm>
          <a:prstGeom prst="line">
            <a:avLst/>
          </a:prstGeom>
          <a:ln>
            <a:solidFill>
              <a:srgbClr val="006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9040913" name="Image 11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127301" y="383829"/>
            <a:ext cx="358140" cy="358140"/>
          </a:xfrm>
          <a:prstGeom prst="rect">
            <a:avLst/>
          </a:prstGeom>
        </p:spPr>
      </p:pic>
      <p:sp>
        <p:nvSpPr>
          <p:cNvPr id="223688159" name="Espace réservé du numéro de diapositive 5"/>
          <p:cNvSpPr txBox="1"/>
          <p:nvPr userDrawn="1"/>
        </p:nvSpPr>
        <p:spPr bwMode="gray">
          <a:xfrm>
            <a:off x="1077712" y="5961480"/>
            <a:ext cx="457317" cy="167859"/>
          </a:xfrm>
          <a:prstGeom prst="rect">
            <a:avLst/>
          </a:prstGeom>
          <a:solidFill>
            <a:srgbClr val="0063AF"/>
          </a:solidFill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marL="0" algn="ctr" defTabSz="914400">
              <a:defRPr lang="fr-FR" sz="800" b="1">
                <a:solidFill>
                  <a:schemeClr val="bg1"/>
                </a:solidFill>
                <a:latin typeface="Montserra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58E8396-2DA7-6C46-9908-4866501E921A}" type="slidenum">
              <a:rPr lang="fr-FR"/>
              <a:t>‹N°›</a:t>
            </a:fld>
            <a:endParaRPr lang="fr-FR"/>
          </a:p>
        </p:txBody>
      </p:sp>
      <p:sp>
        <p:nvSpPr>
          <p:cNvPr id="590950139" name="Titre 1"/>
          <p:cNvSpPr txBox="1"/>
          <p:nvPr userDrawn="1"/>
        </p:nvSpPr>
        <p:spPr bwMode="gray">
          <a:xfrm>
            <a:off x="766762" y="1052737"/>
            <a:ext cx="1108337" cy="4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lang="fr-FR" sz="900" b="0" i="0" cap="none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93216269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52201" y="1027722"/>
            <a:ext cx="1108337" cy="46805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lang="fr-FR" sz="900" b="0" i="0" cap="none">
                <a:solidFill>
                  <a:srgbClr val="153D8A"/>
                </a:solidFill>
                <a:latin typeface="Open Sans Light"/>
                <a:ea typeface="Open Sans Light"/>
                <a:cs typeface="Open Sans Light"/>
              </a:defRPr>
            </a:lvl1pPr>
          </a:lstStyle>
          <a:p>
            <a:pPr>
              <a:defRPr/>
            </a:pPr>
            <a:r>
              <a:rPr lang="fr-FR"/>
              <a:t>Titre </a:t>
            </a:r>
            <a:br>
              <a:rPr lang="fr-FR"/>
            </a:br>
            <a:r>
              <a:rPr lang="fr-FR"/>
              <a:t>de la partie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87082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883048" y="1366221"/>
            <a:ext cx="8470751" cy="4810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Saisissez votre texte puis utilisez les indentations pour obtenir le style des différents niveaux de texte – Texte de niveau 1</a:t>
            </a:r>
            <a:endParaRPr/>
          </a:p>
          <a:p>
            <a:pPr lvl="1">
              <a:defRPr/>
            </a:pPr>
            <a:r>
              <a:rPr lang="fr-FR"/>
              <a:t>Texte de niveau 2</a:t>
            </a:r>
            <a:endParaRPr/>
          </a:p>
          <a:p>
            <a:pPr lvl="2">
              <a:defRPr/>
            </a:pPr>
            <a:r>
              <a:rPr lang="fr-FR"/>
              <a:t>Texte de niveau 3</a:t>
            </a:r>
            <a:endParaRPr/>
          </a:p>
          <a:p>
            <a:pPr lvl="3">
              <a:defRPr/>
            </a:pPr>
            <a:r>
              <a:rPr lang="fr-FR"/>
              <a:t>Texte courant</a:t>
            </a:r>
            <a:endParaRPr/>
          </a:p>
        </p:txBody>
      </p:sp>
      <p:pic>
        <p:nvPicPr>
          <p:cNvPr id="1756253700" name="Image 11"/>
          <p:cNvPicPr>
            <a:picLocks noChangeAspect="1"/>
          </p:cNvPicPr>
          <p:nvPr userDrawn="1"/>
        </p:nvPicPr>
        <p:blipFill rotWithShape="1">
          <a:blip r:embed="rId12"/>
          <a:stretch/>
        </p:blipFill>
        <p:spPr bwMode="gray">
          <a:xfrm>
            <a:off x="9984432" y="6243639"/>
            <a:ext cx="2159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30504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1242812" y="5634621"/>
            <a:ext cx="490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800" b="1">
                <a:solidFill>
                  <a:srgbClr val="2C246B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fld id="{ABECFBEB-6B6D-104D-B11F-167A822544AB}" type="slidenum">
              <a:rPr lang="fr-FR"/>
              <a:t>‹N°›</a:t>
            </a:fld>
            <a:endParaRPr lang="fr-FR"/>
          </a:p>
        </p:txBody>
      </p:sp>
      <p:sp>
        <p:nvSpPr>
          <p:cNvPr id="1627436420" name="Espace réservé de la date 5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C26F9DB-F827-4754-BCBD-21919A25E929}" type="datetime4">
              <a:rPr lang="fr-FR"/>
              <a:t>10 décembre 2025</a:t>
            </a:fld>
            <a:endParaRPr lang="fr-FR"/>
          </a:p>
        </p:txBody>
      </p:sp>
      <p:sp>
        <p:nvSpPr>
          <p:cNvPr id="104602937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44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/>
              <a:t>L’idée force de la diapositive</a:t>
            </a:r>
            <a:endParaRPr/>
          </a:p>
        </p:txBody>
      </p:sp>
      <p:sp>
        <p:nvSpPr>
          <p:cNvPr id="168147512" name="Espace réservé du pied de page 3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9477986" name="ZoneTexte 6"/>
          <p:cNvSpPr txBox="1"/>
          <p:nvPr/>
        </p:nvSpPr>
        <p:spPr bwMode="auto">
          <a:xfrm>
            <a:off x="5791962" y="6642100"/>
            <a:ext cx="6365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>
              <a:defRPr/>
            </a:pPr>
            <a:r>
              <a:rPr lang="fr-FR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C1 - Interne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>
        <a:lnSpc>
          <a:spcPct val="90000"/>
        </a:lnSpc>
        <a:spcBef>
          <a:spcPts val="0"/>
        </a:spcBef>
        <a:buNone/>
        <a:defRPr lang="fr-FR" sz="2800" b="0" i="0" cap="none">
          <a:solidFill>
            <a:srgbClr val="153D8A"/>
          </a:solidFill>
          <a:latin typeface="Open Sans Light"/>
          <a:ea typeface="Open Sans Light"/>
          <a:cs typeface="Open Sans Ligh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000" b="1" cap="none">
          <a:solidFill>
            <a:srgbClr val="153D8A"/>
          </a:solidFill>
          <a:latin typeface="Open Sans ExtraBold"/>
          <a:ea typeface="Open Sans ExtraBold"/>
          <a:cs typeface="Open Sans ExtraBold"/>
        </a:defRPr>
      </a:lvl1pPr>
      <a:lvl2pPr marL="685800" indent="-228600" algn="l" defTabSz="914400">
        <a:lnSpc>
          <a:spcPct val="90000"/>
        </a:lnSpc>
        <a:spcBef>
          <a:spcPts val="500"/>
        </a:spcBef>
        <a:buSzPct val="50000"/>
        <a:buFontTx/>
        <a:buBlip>
          <a:blip r:embed="rId13"/>
        </a:buBlip>
        <a:defRPr sz="1400" b="1" cap="none">
          <a:solidFill>
            <a:srgbClr val="153D8A"/>
          </a:solidFill>
          <a:latin typeface="Open Sans ExtraBold"/>
          <a:ea typeface="Open Sans ExtraBold"/>
          <a:cs typeface="Open Sans ExtraBold"/>
        </a:defRPr>
      </a:lvl2pPr>
      <a:lvl3pPr marL="671513" indent="0" algn="l" defTabSz="914400">
        <a:lnSpc>
          <a:spcPct val="90000"/>
        </a:lnSpc>
        <a:spcBef>
          <a:spcPts val="500"/>
        </a:spcBef>
        <a:buFont typeface="Arial"/>
        <a:buNone/>
        <a:defRPr sz="1200" b="1">
          <a:solidFill>
            <a:srgbClr val="153D8A"/>
          </a:solidFill>
          <a:latin typeface="Open Sans Bold"/>
          <a:ea typeface="Open Sans Bold"/>
          <a:cs typeface="Open Sans Bold"/>
        </a:defRPr>
      </a:lvl3pPr>
      <a:lvl4pPr marL="671513" indent="0" algn="l" defTabSz="914400">
        <a:lnSpc>
          <a:spcPct val="90000"/>
        </a:lnSpc>
        <a:spcBef>
          <a:spcPts val="500"/>
        </a:spcBef>
        <a:buClr>
          <a:srgbClr val="FFD000"/>
        </a:buClr>
        <a:buFont typeface="Open Sans Semibold"/>
        <a:buNone/>
        <a:defRPr sz="1100" b="0">
          <a:solidFill>
            <a:srgbClr val="153D8A"/>
          </a:solidFill>
          <a:latin typeface="Open Sans Semibold"/>
          <a:ea typeface="Open Sans Semibold"/>
          <a:cs typeface="Open Sans Semibol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www.linkedin.com/in/afbeng/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hyperlink" Target="https://blog.afbeng.fr/" TargetMode="External"/><Relationship Id="rId4" Type="http://schemas.openxmlformats.org/officeDocument/2006/relationships/hyperlink" Target="https://github.com/af-beng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datecli.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omments" Target="../comments/comment1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12.png"/><Relationship Id="rId5" Type="http://schemas.openxmlformats.org/officeDocument/2006/relationships/image" Target="../media/image15.pn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0.sv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11" Type="http://schemas.openxmlformats.org/officeDocument/2006/relationships/image" Target="../media/image19.png"/><Relationship Id="rId5" Type="http://schemas.openxmlformats.org/officeDocument/2006/relationships/image" Target="../media/image26.png"/><Relationship Id="rId15" Type="http://schemas.openxmlformats.org/officeDocument/2006/relationships/image" Target="../media/image33.png"/><Relationship Id="rId10" Type="http://schemas.openxmlformats.org/officeDocument/2006/relationships/image" Target="../media/image30.sv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datecli.i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olblak" TargetMode="External"/><Relationship Id="rId4" Type="http://schemas.openxmlformats.org/officeDocument/2006/relationships/hyperlink" Target="https://github.com/updatecli/updatecli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174931" name="Espace réservé du texte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615181" y="4129112"/>
            <a:ext cx="4796712" cy="4852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10000"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2800" b="0" cap="none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defRPr>
            </a:lvl1pPr>
            <a:lvl2pPr marL="0" algn="ctr">
              <a:lnSpc>
                <a:spcPct val="100000"/>
              </a:lnSpc>
              <a:spcBef>
                <a:spcPts val="6899"/>
              </a:spcBef>
              <a:defRPr sz="2000" b="1">
                <a:solidFill>
                  <a:schemeClr val="bg1"/>
                </a:solidFill>
              </a:defRPr>
            </a:lvl2pPr>
          </a:lstStyle>
          <a:p>
            <a:pPr>
              <a:defRPr/>
            </a:pPr>
            <a:r>
              <a:rPr lang="fr-FR" sz="2800" b="0" i="0" u="none" strike="noStrike" cap="none" spc="0" noProof="0" dirty="0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rPr>
              <a:t>Continuous Update Everything</a:t>
            </a:r>
            <a:endParaRPr lang="fr-FR" noProof="0" dirty="0"/>
          </a:p>
        </p:txBody>
      </p:sp>
      <p:sp>
        <p:nvSpPr>
          <p:cNvPr id="2101504157" name="Espace réservé du texte 2"/>
          <p:cNvSpPr>
            <a:spLocks noGrp="1"/>
          </p:cNvSpPr>
          <p:nvPr>
            <p:ph type="body" sz="quarter" idx="13"/>
          </p:nvPr>
        </p:nvSpPr>
        <p:spPr bwMode="auto">
          <a:xfrm>
            <a:off x="915303" y="1472064"/>
            <a:ext cx="10196468" cy="1189079"/>
          </a:xfrm>
        </p:spPr>
        <p:txBody>
          <a:bodyPr wrap="square"/>
          <a:lstStyle/>
          <a:p>
            <a:pPr>
              <a:defRPr/>
            </a:pPr>
            <a:r>
              <a:rPr lang="fr-FR" b="0" noProof="0" dirty="0">
                <a:latin typeface="Open Sans ExtraBold"/>
                <a:ea typeface="Open Sans ExtraBold"/>
                <a:cs typeface="Open Sans ExtraBold"/>
              </a:rPr>
              <a:t>Updatecli, ou comment maintenir</a:t>
            </a:r>
            <a:br>
              <a:rPr lang="fr-FR" b="0" noProof="0" dirty="0">
                <a:latin typeface="Open Sans ExtraBold"/>
                <a:ea typeface="Open Sans ExtraBold"/>
                <a:cs typeface="Open Sans ExtraBold"/>
              </a:rPr>
            </a:br>
            <a:r>
              <a:rPr lang="fr-FR" b="0" noProof="0" dirty="0">
                <a:latin typeface="Open Sans ExtraBold"/>
                <a:ea typeface="Open Sans ExtraBold"/>
                <a:cs typeface="Open Sans ExtraBold"/>
              </a:rPr>
              <a:t>à jour vos applications sans devenir fou !</a:t>
            </a:r>
          </a:p>
        </p:txBody>
      </p:sp>
      <p:sp>
        <p:nvSpPr>
          <p:cNvPr id="1575660245" name="Espace réservé du texte 4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/>
              <a:t>11/12/2025</a:t>
            </a:r>
          </a:p>
        </p:txBody>
      </p:sp>
      <p:sp>
        <p:nvSpPr>
          <p:cNvPr id="2036405704" name="Rectangle 2036405703"/>
          <p:cNvSpPr/>
          <p:nvPr/>
        </p:nvSpPr>
        <p:spPr bwMode="auto">
          <a:xfrm>
            <a:off x="5731687" y="6643687"/>
            <a:ext cx="746124" cy="18256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1454152013" name="Image 14541520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33568" y="3297900"/>
            <a:ext cx="2147707" cy="2147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770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81216419" name="Espace réservé du texte 2"/>
          <p:cNvSpPr>
            <a:spLocks noGrp="1"/>
          </p:cNvSpPr>
          <p:nvPr>
            <p:ph type="body" sz="quarter" idx="19"/>
          </p:nvPr>
        </p:nvSpPr>
        <p:spPr bwMode="auto"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endParaRPr lang="fr-FR" noProof="0" dirty="0"/>
          </a:p>
        </p:txBody>
      </p:sp>
      <p:sp>
        <p:nvSpPr>
          <p:cNvPr id="1445786661" name="Espace réservé du contenu 3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20157" indent="-305907">
              <a:buFont typeface="Arial"/>
              <a:buChar char="–"/>
              <a:defRPr/>
            </a:pPr>
            <a:r>
              <a:rPr lang="fr-FR" noProof="0" dirty="0"/>
              <a:t>Anthony BENGUERFI</a:t>
            </a:r>
          </a:p>
          <a:p>
            <a:pPr marL="705957" lvl="1" indent="-305907">
              <a:buFont typeface="Arial"/>
              <a:buChar char="–"/>
              <a:defRPr/>
            </a:pPr>
            <a:r>
              <a:rPr lang="fr-FR" noProof="0" dirty="0"/>
              <a:t>Ingénieur Plateforme @ </a:t>
            </a:r>
            <a:r>
              <a:rPr lang="fr-FR" dirty="0"/>
              <a:t>Assistance publique – Hôpitaux de Paris </a:t>
            </a:r>
            <a:r>
              <a:rPr lang="fr-FR" i="1" dirty="0"/>
              <a:t>(AP-HP)</a:t>
            </a:r>
            <a:endParaRPr lang="fr-FR" i="1" noProof="0" dirty="0"/>
          </a:p>
          <a:p>
            <a:pPr marL="705957" lvl="1" indent="-305907">
              <a:buFont typeface="Arial"/>
              <a:buChar char="–"/>
              <a:defRPr/>
            </a:pPr>
            <a:r>
              <a:rPr lang="fr-FR" noProof="0" dirty="0"/>
              <a:t>LinkedIn : </a:t>
            </a:r>
            <a:r>
              <a:rPr lang="fr-FR" u="sng" dirty="0">
                <a:hlinkClick r:id="rId3"/>
              </a:rPr>
              <a:t>https://www.linkedin.com/in/afbeng/</a:t>
            </a:r>
            <a:endParaRPr lang="fr-FR" u="sng" dirty="0"/>
          </a:p>
          <a:p>
            <a:pPr marL="705957" lvl="1" indent="-305907">
              <a:buFont typeface="Arial"/>
              <a:buChar char="–"/>
              <a:defRPr/>
            </a:pPr>
            <a:r>
              <a:rPr lang="fr-FR" dirty="0"/>
              <a:t>GitHub :</a:t>
            </a:r>
            <a:r>
              <a:rPr lang="fr-FR" u="sng" dirty="0"/>
              <a:t> </a:t>
            </a:r>
            <a:r>
              <a:rPr lang="fr-FR" u="sng" dirty="0">
                <a:hlinkClick r:id="rId4"/>
              </a:rPr>
              <a:t>https://github.com/af-beng</a:t>
            </a:r>
            <a:endParaRPr lang="fr-FR" u="sng" dirty="0"/>
          </a:p>
          <a:p>
            <a:pPr marL="705957" lvl="1" indent="-305907">
              <a:buFont typeface="Arial"/>
              <a:buChar char="–"/>
              <a:defRPr/>
            </a:pPr>
            <a:r>
              <a:rPr lang="fr-FR" dirty="0"/>
              <a:t>Blog tech : </a:t>
            </a:r>
            <a:r>
              <a:rPr lang="fr-FR" dirty="0">
                <a:hlinkClick r:id="rId5"/>
              </a:rPr>
              <a:t>https://blog.afbeng.fr/</a:t>
            </a:r>
            <a:endParaRPr lang="fr-FR" noProof="0" dirty="0"/>
          </a:p>
          <a:p>
            <a:pPr>
              <a:defRPr/>
            </a:pPr>
            <a:endParaRPr lang="fr-FR" noProof="0" dirty="0"/>
          </a:p>
          <a:p>
            <a:pPr>
              <a:defRPr/>
            </a:pPr>
            <a:endParaRPr lang="fr-FR" noProof="0" dirty="0"/>
          </a:p>
          <a:p>
            <a:pPr marL="305908" indent="-305908">
              <a:buClr>
                <a:srgbClr val="FFC000"/>
              </a:buClr>
              <a:buFont typeface="Arial"/>
              <a:buChar char="–"/>
              <a:defRPr/>
            </a:pPr>
            <a:endParaRPr lang="fr-FR" noProof="0" dirty="0"/>
          </a:p>
        </p:txBody>
      </p:sp>
      <p:sp>
        <p:nvSpPr>
          <p:cNvPr id="1647649149" name="Rectangle 1647649148"/>
          <p:cNvSpPr/>
          <p:nvPr/>
        </p:nvSpPr>
        <p:spPr bwMode="auto">
          <a:xfrm>
            <a:off x="5731686" y="6643686"/>
            <a:ext cx="746124" cy="18256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1524658682" name="Image 152465868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508308" y="3781733"/>
            <a:ext cx="3725250" cy="1510794"/>
          </a:xfrm>
          <a:prstGeom prst="rect">
            <a:avLst/>
          </a:prstGeom>
        </p:spPr>
      </p:pic>
      <p:pic>
        <p:nvPicPr>
          <p:cNvPr id="3" name="Image 2" descr="Une image contenant texte, logo, Police, Graphique&#10;&#10;Le contenu généré par l’IA peut être incorrect.">
            <a:extLst>
              <a:ext uri="{FF2B5EF4-FFF2-40B4-BE49-F238E27FC236}">
                <a16:creationId xmlns:a16="http://schemas.microsoft.com/office/drawing/2014/main" id="{0647CEF9-1C4B-75E8-0639-60E1D1F5A9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2347" y="2244251"/>
            <a:ext cx="1212444" cy="1212444"/>
          </a:xfrm>
          <a:prstGeom prst="rect">
            <a:avLst/>
          </a:prstGeom>
        </p:spPr>
      </p:pic>
      <p:pic>
        <p:nvPicPr>
          <p:cNvPr id="5" name="Image 4" descr="Une image contenant logo, symbole, Police, Graphique&#10;&#10;Le contenu généré par l’IA peut être incorrect.">
            <a:extLst>
              <a:ext uri="{FF2B5EF4-FFF2-40B4-BE49-F238E27FC236}">
                <a16:creationId xmlns:a16="http://schemas.microsoft.com/office/drawing/2014/main" id="{C358115A-573A-AD5B-133D-FECB5FA556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5583" y="2353562"/>
            <a:ext cx="1046128" cy="993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A839190-9605-AFA6-3CEA-B5F9A4EDB69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7403476" name="Image 647403475">
            <a:extLst>
              <a:ext uri="{FF2B5EF4-FFF2-40B4-BE49-F238E27FC236}">
                <a16:creationId xmlns:a16="http://schemas.microsoft.com/office/drawing/2014/main" id="{DF06E5B5-1BA5-2820-2F0E-95BABD76E9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15203" y="2573410"/>
            <a:ext cx="6887594" cy="3180509"/>
          </a:xfrm>
          <a:prstGeom prst="rect">
            <a:avLst/>
          </a:prstGeom>
        </p:spPr>
      </p:pic>
      <p:sp>
        <p:nvSpPr>
          <p:cNvPr id="647403514" name="Titre 1">
            <a:extLst>
              <a:ext uri="{FF2B5EF4-FFF2-40B4-BE49-F238E27FC236}">
                <a16:creationId xmlns:a16="http://schemas.microsoft.com/office/drawing/2014/main" id="{C692E7C7-DF99-6FC6-3757-DCA908C290B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1703557344" name="Espace réservé du texte 2">
            <a:extLst>
              <a:ext uri="{FF2B5EF4-FFF2-40B4-BE49-F238E27FC236}">
                <a16:creationId xmlns:a16="http://schemas.microsoft.com/office/drawing/2014/main" id="{38E62A3F-92A4-19F4-1C9E-544AFF9A4DA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auto"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Contexte</a:t>
            </a:r>
            <a:endParaRPr lang="fr-FR" noProof="0" dirty="0"/>
          </a:p>
        </p:txBody>
      </p:sp>
      <p:sp>
        <p:nvSpPr>
          <p:cNvPr id="1182828311" name="Espace réservé du contenu 3">
            <a:extLst>
              <a:ext uri="{FF2B5EF4-FFF2-40B4-BE49-F238E27FC236}">
                <a16:creationId xmlns:a16="http://schemas.microsoft.com/office/drawing/2014/main" id="{C6CB1BF3-7DE7-816D-5EF9-E2FEB5901AF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135557" y="1263566"/>
            <a:ext cx="8470750" cy="48107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dirty="0"/>
              <a:t>Infrastructure avec une approche « GitOps »</a:t>
            </a:r>
            <a:endParaRPr lang="fr-FR" noProof="0" dirty="0"/>
          </a:p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dirty="0"/>
              <a:t>Forte croissance : Comment gérer tout ça ?</a:t>
            </a:r>
          </a:p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endParaRPr lang="fr-FR" dirty="0"/>
          </a:p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endParaRPr lang="fr-FR" dirty="0"/>
          </a:p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endParaRPr lang="fr-FR" noProof="0" dirty="0"/>
          </a:p>
        </p:txBody>
      </p:sp>
      <p:sp>
        <p:nvSpPr>
          <p:cNvPr id="333053437" name="Rectangle 333053436">
            <a:extLst>
              <a:ext uri="{FF2B5EF4-FFF2-40B4-BE49-F238E27FC236}">
                <a16:creationId xmlns:a16="http://schemas.microsoft.com/office/drawing/2014/main" id="{3F288BD3-78A1-EF21-A85E-68FB19290EFF}"/>
              </a:ext>
            </a:extLst>
          </p:cNvPr>
          <p:cNvSpPr/>
          <p:nvPr/>
        </p:nvSpPr>
        <p:spPr bwMode="auto">
          <a:xfrm>
            <a:off x="5731686" y="6643685"/>
            <a:ext cx="746123" cy="1825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3" name="Image 2" descr="Une image contenant Panneau de signalisation, symbole, signe&#10;&#10;Le contenu généré par l’IA peut être incorrect.">
            <a:extLst>
              <a:ext uri="{FF2B5EF4-FFF2-40B4-BE49-F238E27FC236}">
                <a16:creationId xmlns:a16="http://schemas.microsoft.com/office/drawing/2014/main" id="{7B9137F5-BBD3-A89F-A5DD-792111905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630" y="3397438"/>
            <a:ext cx="817242" cy="817242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99709B93-B115-9360-0A62-11D7B6FEAA8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10563149" y="3320374"/>
            <a:ext cx="836739" cy="836739"/>
          </a:xfrm>
          <a:prstGeom prst="rect">
            <a:avLst/>
          </a:prstGeom>
        </p:spPr>
      </p:pic>
      <p:pic>
        <p:nvPicPr>
          <p:cNvPr id="17" name="Image 16" descr="Une image contenant ordinateur, ordinateur portable, meubles, illustration&#10;&#10;Le contenu généré par l’IA peut être incorrect.">
            <a:extLst>
              <a:ext uri="{FF2B5EF4-FFF2-40B4-BE49-F238E27FC236}">
                <a16:creationId xmlns:a16="http://schemas.microsoft.com/office/drawing/2014/main" id="{FAEBDD13-D6E2-6D0F-EC32-80C47C65D5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883" y="3067026"/>
            <a:ext cx="1484828" cy="1484828"/>
          </a:xfrm>
          <a:prstGeom prst="rect">
            <a:avLst/>
          </a:prstGeom>
        </p:spPr>
      </p:pic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0B7DD400-C1C9-C224-DB68-BFCEFE4D08C3}"/>
              </a:ext>
            </a:extLst>
          </p:cNvPr>
          <p:cNvCxnSpPr>
            <a:cxnSpLocks/>
          </p:cNvCxnSpPr>
          <p:nvPr/>
        </p:nvCxnSpPr>
        <p:spPr>
          <a:xfrm>
            <a:off x="3955912" y="3809440"/>
            <a:ext cx="1037617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DD7CEFFD-1EEB-53AC-AE52-A9FCB22B8529}"/>
              </a:ext>
            </a:extLst>
          </p:cNvPr>
          <p:cNvCxnSpPr>
            <a:cxnSpLocks/>
          </p:cNvCxnSpPr>
          <p:nvPr/>
        </p:nvCxnSpPr>
        <p:spPr bwMode="auto">
          <a:xfrm>
            <a:off x="6388854" y="3783935"/>
            <a:ext cx="1210453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6F28AE80-8E62-894D-0DD5-6731CC267033}"/>
              </a:ext>
            </a:extLst>
          </p:cNvPr>
          <p:cNvCxnSpPr>
            <a:cxnSpLocks/>
          </p:cNvCxnSpPr>
          <p:nvPr/>
        </p:nvCxnSpPr>
        <p:spPr bwMode="auto">
          <a:xfrm>
            <a:off x="8933400" y="3783935"/>
            <a:ext cx="1449333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D8F22412-C9E2-BBC1-6B07-6DE8935D88A1}"/>
              </a:ext>
            </a:extLst>
          </p:cNvPr>
          <p:cNvSpPr txBox="1"/>
          <p:nvPr/>
        </p:nvSpPr>
        <p:spPr bwMode="gray">
          <a:xfrm>
            <a:off x="3814287" y="3332868"/>
            <a:ext cx="144783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1600" dirty="0"/>
              <a:t>commit/push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CBB3D72-29E7-594E-6356-FA995D7C0C21}"/>
              </a:ext>
            </a:extLst>
          </p:cNvPr>
          <p:cNvSpPr txBox="1"/>
          <p:nvPr/>
        </p:nvSpPr>
        <p:spPr bwMode="gray">
          <a:xfrm>
            <a:off x="6297931" y="3332868"/>
            <a:ext cx="1353256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1600" dirty="0"/>
              <a:t>pull changes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7497BCC-6BAF-0351-DC73-90D127A3BB10}"/>
              </a:ext>
            </a:extLst>
          </p:cNvPr>
          <p:cNvSpPr txBox="1"/>
          <p:nvPr/>
        </p:nvSpPr>
        <p:spPr bwMode="gray">
          <a:xfrm>
            <a:off x="9029963" y="3332868"/>
            <a:ext cx="1285929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1600" dirty="0"/>
              <a:t>sync cluster</a:t>
            </a:r>
          </a:p>
        </p:txBody>
      </p:sp>
      <p:pic>
        <p:nvPicPr>
          <p:cNvPr id="57" name="Image 56" descr="Une image contenant clipart, illustration, dessin, Dessin animé&#10;&#10;Le contenu généré par l’IA peut être incorrect.">
            <a:extLst>
              <a:ext uri="{FF2B5EF4-FFF2-40B4-BE49-F238E27FC236}">
                <a16:creationId xmlns:a16="http://schemas.microsoft.com/office/drawing/2014/main" id="{7356AE8C-0082-BFA0-8B2F-95AC2B1C45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6973" y="3339794"/>
            <a:ext cx="916327" cy="916327"/>
          </a:xfrm>
          <a:prstGeom prst="rect">
            <a:avLst/>
          </a:prstGeom>
        </p:spPr>
      </p:pic>
      <p:sp>
        <p:nvSpPr>
          <p:cNvPr id="60" name="ZoneTexte 59">
            <a:extLst>
              <a:ext uri="{FF2B5EF4-FFF2-40B4-BE49-F238E27FC236}">
                <a16:creationId xmlns:a16="http://schemas.microsoft.com/office/drawing/2014/main" id="{300A08FD-E265-0CAC-BE7C-9FCA43313B32}"/>
              </a:ext>
            </a:extLst>
          </p:cNvPr>
          <p:cNvSpPr txBox="1"/>
          <p:nvPr/>
        </p:nvSpPr>
        <p:spPr bwMode="gray">
          <a:xfrm>
            <a:off x="5351045" y="4300104"/>
            <a:ext cx="476412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b="1" dirty="0">
                <a:latin typeface="Aptos Display" panose="020B0004020202020204" pitchFamily="34" charset="0"/>
              </a:rPr>
              <a:t>Git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1C2681C9-C5AC-D1CB-6A6F-6CF4B1DD4CC3}"/>
              </a:ext>
            </a:extLst>
          </p:cNvPr>
          <p:cNvSpPr txBox="1"/>
          <p:nvPr/>
        </p:nvSpPr>
        <p:spPr bwMode="gray">
          <a:xfrm>
            <a:off x="7739739" y="4300104"/>
            <a:ext cx="94769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b="1" dirty="0">
                <a:latin typeface="Aptos Display" panose="020B0004020202020204" pitchFamily="34" charset="0"/>
              </a:rPr>
              <a:t>Argo CD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D9F3D428-6349-08DC-837B-66702060EE93}"/>
              </a:ext>
            </a:extLst>
          </p:cNvPr>
          <p:cNvSpPr txBox="1"/>
          <p:nvPr/>
        </p:nvSpPr>
        <p:spPr bwMode="gray">
          <a:xfrm>
            <a:off x="10352401" y="4248736"/>
            <a:ext cx="1319592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b="1" dirty="0">
                <a:latin typeface="Aptos Display" panose="020B0004020202020204" pitchFamily="34" charset="0"/>
              </a:rPr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269392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28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2828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740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60" grpId="0"/>
      <p:bldP spid="61" grpId="0"/>
      <p:bldP spid="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05691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146612693" name="Espace réservé du texte 2"/>
          <p:cNvSpPr>
            <a:spLocks noGrp="1"/>
          </p:cNvSpPr>
          <p:nvPr>
            <p:ph type="body" sz="quarter" idx="19"/>
          </p:nvPr>
        </p:nvSpPr>
        <p:spPr bwMode="auto"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Updatecli, c’est quoi ?</a:t>
            </a:r>
            <a:endParaRPr lang="fr-FR" noProof="0" dirty="0"/>
          </a:p>
        </p:txBody>
      </p:sp>
      <p:sp>
        <p:nvSpPr>
          <p:cNvPr id="293179778" name="Espace réservé du contenu 3"/>
          <p:cNvSpPr>
            <a:spLocks noGrp="1"/>
          </p:cNvSpPr>
          <p:nvPr>
            <p:ph idx="1"/>
          </p:nvPr>
        </p:nvSpPr>
        <p:spPr bwMode="auto">
          <a:xfrm>
            <a:off x="2135557" y="1263566"/>
            <a:ext cx="8470750" cy="489593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20157" indent="-305907">
              <a:buFont typeface="Arial"/>
              <a:buChar char="–"/>
              <a:defRPr/>
            </a:pPr>
            <a:r>
              <a:rPr lang="fr-FR" dirty="0"/>
              <a:t>Outil CLI d’automatisation</a:t>
            </a:r>
          </a:p>
          <a:p>
            <a:pPr marL="705957" lvl="1" indent="-305907">
              <a:buFont typeface="Arial"/>
              <a:buChar char="–"/>
              <a:defRPr/>
            </a:pPr>
            <a:r>
              <a:rPr lang="fr-FR" dirty="0">
                <a:hlinkClick r:id="rId3"/>
              </a:rPr>
              <a:t>https://www.updatecli.io/</a:t>
            </a:r>
            <a:endParaRPr lang="fr-FR" dirty="0"/>
          </a:p>
          <a:p>
            <a:pPr marL="705957" lvl="1" indent="-305907">
              <a:buFont typeface="Arial"/>
              <a:buChar char="–"/>
              <a:defRPr/>
            </a:pPr>
            <a:r>
              <a:rPr lang="fr-FR" dirty="0"/>
              <a:t>Pipeline de mise à jour</a:t>
            </a:r>
          </a:p>
          <a:p>
            <a:pPr marL="705957" lvl="1" indent="-305907">
              <a:buFont typeface="Arial"/>
              <a:buChar char="–"/>
              <a:defRPr/>
            </a:pPr>
            <a:r>
              <a:rPr lang="fr-FR" dirty="0"/>
              <a:t>Configuration dans un fichier YAML</a:t>
            </a:r>
          </a:p>
          <a:p>
            <a:pPr marL="705957" lvl="1" indent="-305907">
              <a:buFont typeface="Arial"/>
              <a:buChar char="–"/>
              <a:defRPr/>
            </a:pPr>
            <a:r>
              <a:rPr lang="fr-FR" dirty="0"/>
              <a:t>Flexibilité via les plugins</a:t>
            </a:r>
          </a:p>
        </p:txBody>
      </p:sp>
      <p:sp>
        <p:nvSpPr>
          <p:cNvPr id="1163160198" name="Rectangle 1163160197"/>
          <p:cNvSpPr/>
          <p:nvPr/>
        </p:nvSpPr>
        <p:spPr bwMode="auto">
          <a:xfrm>
            <a:off x="5731686" y="6643685"/>
            <a:ext cx="746123" cy="1825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2047354179" name="Image 204735417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61719" y="907792"/>
            <a:ext cx="1503947" cy="1503947"/>
          </a:xfrm>
          <a:prstGeom prst="rect">
            <a:avLst/>
          </a:prstGeom>
        </p:spPr>
      </p:pic>
      <p:pic>
        <p:nvPicPr>
          <p:cNvPr id="2138781987" name="Image 2138781986"/>
          <p:cNvPicPr>
            <a:picLocks noChangeAspect="1"/>
          </p:cNvPicPr>
          <p:nvPr/>
        </p:nvPicPr>
        <p:blipFill rotWithShape="1">
          <a:blip r:embed="rId5"/>
          <a:srcRect t="19919"/>
          <a:stretch/>
        </p:blipFill>
        <p:spPr bwMode="auto">
          <a:xfrm>
            <a:off x="2135557" y="3241573"/>
            <a:ext cx="8371370" cy="2880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02946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949739620" name="Espace réservé du texte 2"/>
          <p:cNvSpPr>
            <a:spLocks noGrp="1"/>
          </p:cNvSpPr>
          <p:nvPr>
            <p:ph type="body" sz="quarter" idx="19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Quick Start</a:t>
            </a:r>
          </a:p>
        </p:txBody>
      </p:sp>
      <p:pic>
        <p:nvPicPr>
          <p:cNvPr id="223128157" name="Espace réservé du contenu 223128156">
            <a:hlinkClick r:id="" action="ppaction://media"/>
          </p:cNvPr>
          <p:cNvPicPr>
            <a:picLocks noGrp="1" noChangeAspect="1"/>
          </p:cNvPicPr>
          <p:nvPr>
            <p:ph idx="1" hasCustomPrompt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tretch/>
        </p:blipFill>
        <p:spPr bwMode="auto">
          <a:xfrm>
            <a:off x="1931374" y="976125"/>
            <a:ext cx="9289033" cy="5321533"/>
          </a:xfrm>
          <a:prstGeom prst="rect">
            <a:avLst/>
          </a:prstGeom>
        </p:spPr>
      </p:pic>
      <p:sp>
        <p:nvSpPr>
          <p:cNvPr id="1669481656" name="Rectangle 1669481655"/>
          <p:cNvSpPr/>
          <p:nvPr/>
        </p:nvSpPr>
        <p:spPr bwMode="auto">
          <a:xfrm>
            <a:off x="5731686" y="6643685"/>
            <a:ext cx="746123" cy="1825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9A2D18D-94B6-2D45-3B7D-2F707DD3619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0799" name="Titre 1">
            <a:extLst>
              <a:ext uri="{FF2B5EF4-FFF2-40B4-BE49-F238E27FC236}">
                <a16:creationId xmlns:a16="http://schemas.microsoft.com/office/drawing/2014/main" id="{037F4F1E-3295-2912-E0EF-6D8D52D0079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510066227" name="Espace réservé du texte 2">
            <a:extLst>
              <a:ext uri="{FF2B5EF4-FFF2-40B4-BE49-F238E27FC236}">
                <a16:creationId xmlns:a16="http://schemas.microsoft.com/office/drawing/2014/main" id="{54A18724-1603-0534-CD74-53EC00B05B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Démo</a:t>
            </a:r>
          </a:p>
        </p:txBody>
      </p:sp>
      <p:sp>
        <p:nvSpPr>
          <p:cNvPr id="933055264" name="Espace réservé du contenu 3">
            <a:extLst>
              <a:ext uri="{FF2B5EF4-FFF2-40B4-BE49-F238E27FC236}">
                <a16:creationId xmlns:a16="http://schemas.microsoft.com/office/drawing/2014/main" id="{CCBB9299-BEF3-7646-2623-308B1B9675A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135557" y="1263566"/>
            <a:ext cx="8470750" cy="48107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05906" lvl="0" indent="-305906">
              <a:buFont typeface="Arial"/>
              <a:buChar char="–"/>
              <a:defRPr/>
            </a:pPr>
            <a:r>
              <a:rPr lang="fr-FR" dirty="0"/>
              <a:t>Grafana</a:t>
            </a:r>
            <a:endParaRPr lang="fr-FR" u="sng" dirty="0"/>
          </a:p>
          <a:p>
            <a:pPr lvl="0">
              <a:buClr>
                <a:srgbClr val="FFC000"/>
              </a:buClr>
              <a:defRPr/>
            </a:pPr>
            <a:endParaRPr lang="fr-FR" noProof="0" dirty="0"/>
          </a:p>
        </p:txBody>
      </p:sp>
      <p:sp>
        <p:nvSpPr>
          <p:cNvPr id="515272901" name="Rectangle 515272900">
            <a:extLst>
              <a:ext uri="{FF2B5EF4-FFF2-40B4-BE49-F238E27FC236}">
                <a16:creationId xmlns:a16="http://schemas.microsoft.com/office/drawing/2014/main" id="{627C99E5-0C2C-DAE9-5420-0028C5C9FE05}"/>
              </a:ext>
            </a:extLst>
          </p:cNvPr>
          <p:cNvSpPr/>
          <p:nvPr/>
        </p:nvSpPr>
        <p:spPr bwMode="auto">
          <a:xfrm>
            <a:off x="5731686" y="6643685"/>
            <a:ext cx="746123" cy="1825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6197412-37BC-4CA5-A9DF-BE16CCFCCB9B}"/>
              </a:ext>
            </a:extLst>
          </p:cNvPr>
          <p:cNvSpPr/>
          <p:nvPr/>
        </p:nvSpPr>
        <p:spPr bwMode="auto">
          <a:xfrm>
            <a:off x="4435813" y="2543279"/>
            <a:ext cx="1887166" cy="1411761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D999A0BD-D5C9-84C7-E4AA-F408869FA209}"/>
              </a:ext>
            </a:extLst>
          </p:cNvPr>
          <p:cNvSpPr/>
          <p:nvPr/>
        </p:nvSpPr>
        <p:spPr>
          <a:xfrm>
            <a:off x="4966229" y="3000417"/>
            <a:ext cx="812800" cy="30918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argocd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DD671DEA-F229-B2AC-5F58-14DF8A3A34DE}"/>
              </a:ext>
            </a:extLst>
          </p:cNvPr>
          <p:cNvSpPr/>
          <p:nvPr/>
        </p:nvSpPr>
        <p:spPr bwMode="auto">
          <a:xfrm>
            <a:off x="4909429" y="3453071"/>
            <a:ext cx="931127" cy="30955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updatecli</a:t>
            </a:r>
          </a:p>
        </p:txBody>
      </p:sp>
      <p:pic>
        <p:nvPicPr>
          <p:cNvPr id="3" name="Image 2" descr="Une image contenant Panneau de signalisation, symbole, signe&#10;&#10;Le contenu généré par l’IA peut être incorrect.">
            <a:extLst>
              <a:ext uri="{FF2B5EF4-FFF2-40B4-BE49-F238E27FC236}">
                <a16:creationId xmlns:a16="http://schemas.microsoft.com/office/drawing/2014/main" id="{5E4A7FA1-7110-FC83-BBF0-5277F3BA3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65654" y="4810709"/>
            <a:ext cx="817242" cy="817242"/>
          </a:xfrm>
          <a:prstGeom prst="rect">
            <a:avLst/>
          </a:prstGeom>
        </p:spPr>
      </p:pic>
      <p:pic>
        <p:nvPicPr>
          <p:cNvPr id="9" name="Image 8" descr="Une image contenant ordinateur, ordinateur portable, meubles, illustration&#10;&#10;Le contenu généré par l’IA peut être incorrect.">
            <a:extLst>
              <a:ext uri="{FF2B5EF4-FFF2-40B4-BE49-F238E27FC236}">
                <a16:creationId xmlns:a16="http://schemas.microsoft.com/office/drawing/2014/main" id="{EDBAC0B6-026C-3EF5-B150-69D1F045C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842907" y="4480297"/>
            <a:ext cx="1484828" cy="1484828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117A22A-06CE-16F8-1697-A44726F03126}"/>
              </a:ext>
            </a:extLst>
          </p:cNvPr>
          <p:cNvCxnSpPr>
            <a:cxnSpLocks/>
          </p:cNvCxnSpPr>
          <p:nvPr/>
        </p:nvCxnSpPr>
        <p:spPr bwMode="auto">
          <a:xfrm>
            <a:off x="3740936" y="5222711"/>
            <a:ext cx="1037617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3CA68EA-05C4-1A5F-0DAC-25EB3CDD8EA2}"/>
              </a:ext>
            </a:extLst>
          </p:cNvPr>
          <p:cNvCxnSpPr>
            <a:cxnSpLocks/>
          </p:cNvCxnSpPr>
          <p:nvPr/>
        </p:nvCxnSpPr>
        <p:spPr bwMode="auto">
          <a:xfrm>
            <a:off x="6173878" y="5197206"/>
            <a:ext cx="1210453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C8A0077C-A10C-BFCD-95DE-2DCFEEF24F3D}"/>
              </a:ext>
            </a:extLst>
          </p:cNvPr>
          <p:cNvCxnSpPr>
            <a:cxnSpLocks/>
          </p:cNvCxnSpPr>
          <p:nvPr/>
        </p:nvCxnSpPr>
        <p:spPr bwMode="auto">
          <a:xfrm>
            <a:off x="8718424" y="5197206"/>
            <a:ext cx="1449333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3145AA0-1ABB-625B-1221-91B4BD79D713}"/>
              </a:ext>
            </a:extLst>
          </p:cNvPr>
          <p:cNvSpPr txBox="1"/>
          <p:nvPr/>
        </p:nvSpPr>
        <p:spPr bwMode="gray">
          <a:xfrm>
            <a:off x="3599311" y="4746139"/>
            <a:ext cx="144783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1600" dirty="0"/>
              <a:t>commit/push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8476F40-9898-54DA-93FC-D3B67A2F885F}"/>
              </a:ext>
            </a:extLst>
          </p:cNvPr>
          <p:cNvSpPr txBox="1"/>
          <p:nvPr/>
        </p:nvSpPr>
        <p:spPr bwMode="gray">
          <a:xfrm>
            <a:off x="6082955" y="4746139"/>
            <a:ext cx="1353256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1600" dirty="0"/>
              <a:t>pull changes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C372DAD-FC2A-B5F4-CC4F-2CA7BB7DE058}"/>
              </a:ext>
            </a:extLst>
          </p:cNvPr>
          <p:cNvSpPr txBox="1"/>
          <p:nvPr/>
        </p:nvSpPr>
        <p:spPr bwMode="gray">
          <a:xfrm>
            <a:off x="8814987" y="4746139"/>
            <a:ext cx="1285929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1600" dirty="0"/>
              <a:t>sync cluster</a:t>
            </a:r>
          </a:p>
        </p:txBody>
      </p:sp>
      <p:pic>
        <p:nvPicPr>
          <p:cNvPr id="17" name="Image 16" descr="Une image contenant clipart, illustration, dessin, Dessin animé&#10;&#10;Le contenu généré par l’IA peut être incorrect.">
            <a:extLst>
              <a:ext uri="{FF2B5EF4-FFF2-40B4-BE49-F238E27FC236}">
                <a16:creationId xmlns:a16="http://schemas.microsoft.com/office/drawing/2014/main" id="{8A53CB65-43D5-3054-1D9A-6D1AAD2CA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501997" y="4753065"/>
            <a:ext cx="916327" cy="916327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151B575C-F4D2-0120-0662-B492FB238DD6}"/>
              </a:ext>
            </a:extLst>
          </p:cNvPr>
          <p:cNvSpPr txBox="1"/>
          <p:nvPr/>
        </p:nvSpPr>
        <p:spPr bwMode="gray">
          <a:xfrm>
            <a:off x="5136069" y="5686136"/>
            <a:ext cx="476412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b="1" dirty="0">
                <a:latin typeface="Aptos Display" panose="020B0004020202020204" pitchFamily="34" charset="0"/>
              </a:rPr>
              <a:t>Git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5E763F3-706C-352C-7057-72A81BE2DB6C}"/>
              </a:ext>
            </a:extLst>
          </p:cNvPr>
          <p:cNvSpPr txBox="1"/>
          <p:nvPr/>
        </p:nvSpPr>
        <p:spPr bwMode="gray">
          <a:xfrm>
            <a:off x="7524763" y="5713375"/>
            <a:ext cx="947695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b="1" dirty="0">
                <a:latin typeface="Aptos Display" panose="020B0004020202020204" pitchFamily="34" charset="0"/>
              </a:rPr>
              <a:t>Argo CD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07E9236-D377-B4C7-FAB5-F67AB5D0D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185" y="2564080"/>
            <a:ext cx="327654" cy="267584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62993FD5-E950-DD81-44CC-681E6A3C5E9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5127705" y="1973341"/>
            <a:ext cx="485562" cy="485562"/>
          </a:xfrm>
          <a:prstGeom prst="rect">
            <a:avLst/>
          </a:prstGeom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A6A9F9C3-4AC6-8EA8-9D95-87545E4C3483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5374275" y="3955040"/>
            <a:ext cx="5121" cy="85566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Image 4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BE7AD01-2ABF-E882-D18F-1DCF590636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837" y="340272"/>
            <a:ext cx="4115374" cy="2229161"/>
          </a:xfrm>
          <a:prstGeom prst="rect">
            <a:avLst/>
          </a:prstGeom>
        </p:spPr>
      </p:pic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CEA824A8-BCA4-C61A-857A-D64D2AAF7AE0}"/>
              </a:ext>
            </a:extLst>
          </p:cNvPr>
          <p:cNvCxnSpPr>
            <a:cxnSpLocks/>
          </p:cNvCxnSpPr>
          <p:nvPr/>
        </p:nvCxnSpPr>
        <p:spPr>
          <a:xfrm flipH="1">
            <a:off x="9584919" y="2442557"/>
            <a:ext cx="55689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066184" name="Organigramme : Alternative 510066183">
            <a:extLst>
              <a:ext uri="{FF2B5EF4-FFF2-40B4-BE49-F238E27FC236}">
                <a16:creationId xmlns:a16="http://schemas.microsoft.com/office/drawing/2014/main" id="{3BF0BC94-B747-E1FF-3687-42BCCE47F060}"/>
              </a:ext>
            </a:extLst>
          </p:cNvPr>
          <p:cNvSpPr/>
          <p:nvPr/>
        </p:nvSpPr>
        <p:spPr bwMode="auto">
          <a:xfrm>
            <a:off x="10335328" y="4566771"/>
            <a:ext cx="1673547" cy="1418979"/>
          </a:xfrm>
          <a:prstGeom prst="flowChartAlternateProcess">
            <a:avLst/>
          </a:prstGeom>
          <a:noFill/>
          <a:ln w="19049" cap="flat" cmpd="sng" algn="ctr">
            <a:solidFill>
              <a:srgbClr val="2E6CE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510066185" name="Organigramme : Alternative 510066184">
            <a:extLst>
              <a:ext uri="{FF2B5EF4-FFF2-40B4-BE49-F238E27FC236}">
                <a16:creationId xmlns:a16="http://schemas.microsoft.com/office/drawing/2014/main" id="{02F19A4F-85EC-A1D6-333B-4DCDF231F8CC}"/>
              </a:ext>
            </a:extLst>
          </p:cNvPr>
          <p:cNvSpPr/>
          <p:nvPr/>
        </p:nvSpPr>
        <p:spPr bwMode="auto">
          <a:xfrm>
            <a:off x="10564420" y="5052971"/>
            <a:ext cx="1205119" cy="690503"/>
          </a:xfrm>
          <a:prstGeom prst="flowChartAlternateProcess">
            <a:avLst/>
          </a:prstGeom>
          <a:noFill/>
          <a:ln w="19049" cap="flat" cmpd="sng" algn="ctr">
            <a:solidFill>
              <a:srgbClr val="2F528F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510066188" name="Image 510066187" descr="Une image contenant Graphique, graphisme, Police, clipart&#10;&#10;Le contenu généré par l’IA peut être incorrect.">
            <a:extLst>
              <a:ext uri="{FF2B5EF4-FFF2-40B4-BE49-F238E27FC236}">
                <a16:creationId xmlns:a16="http://schemas.microsoft.com/office/drawing/2014/main" id="{489C22C9-0F63-4FB7-D035-1D9DB1F2F8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0898957" y="5124563"/>
            <a:ext cx="504763" cy="51584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81F1ACE7-54DF-0807-5637-FA2E8333529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10748609" y="4077627"/>
            <a:ext cx="836739" cy="836739"/>
          </a:xfrm>
          <a:prstGeom prst="rect">
            <a:avLst/>
          </a:prstGeom>
        </p:spPr>
      </p:pic>
      <p:pic>
        <p:nvPicPr>
          <p:cNvPr id="510066194" name="Image 51006619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AAFEAA6-5ADA-D718-7EE1-4A3D2068FB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2060" y="2835762"/>
            <a:ext cx="4172532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6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006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7" grpId="0" animBg="1"/>
      <p:bldP spid="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81010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677713248" name="Espace réservé du texte 2"/>
          <p:cNvSpPr>
            <a:spLocks noGrp="1"/>
          </p:cNvSpPr>
          <p:nvPr>
            <p:ph type="body" sz="quarter" idx="19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Cas spécifique : Gitlab</a:t>
            </a:r>
          </a:p>
        </p:txBody>
      </p:sp>
      <p:sp>
        <p:nvSpPr>
          <p:cNvPr id="327474484" name="Espace réservé du contenu 3"/>
          <p:cNvSpPr>
            <a:spLocks noGrp="1"/>
          </p:cNvSpPr>
          <p:nvPr>
            <p:ph idx="1"/>
          </p:nvPr>
        </p:nvSpPr>
        <p:spPr bwMode="auto">
          <a:xfrm>
            <a:off x="2135556" y="1263565"/>
            <a:ext cx="8470749" cy="48107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05908" indent="-305908">
              <a:buClr>
                <a:srgbClr val="FFC000"/>
              </a:buClr>
              <a:buFont typeface="Arial"/>
              <a:buChar char="–"/>
              <a:defRPr/>
            </a:pPr>
            <a:r>
              <a:rPr lang="fr-FR" noProof="0" dirty="0"/>
              <a:t>Gérer le cas du Gitlab interne sans ArgoCD</a:t>
            </a:r>
          </a:p>
        </p:txBody>
      </p:sp>
      <p:sp>
        <p:nvSpPr>
          <p:cNvPr id="1387733046" name="Rectangle 1387733045"/>
          <p:cNvSpPr/>
          <p:nvPr/>
        </p:nvSpPr>
        <p:spPr bwMode="auto">
          <a:xfrm>
            <a:off x="5731686" y="6643684"/>
            <a:ext cx="746122" cy="1825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1629601162" name="Image 162960116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12372" y="3868753"/>
            <a:ext cx="777738" cy="759510"/>
          </a:xfrm>
          <a:prstGeom prst="rect">
            <a:avLst/>
          </a:prstGeom>
        </p:spPr>
      </p:pic>
      <p:pic>
        <p:nvPicPr>
          <p:cNvPr id="78704266" name="Image 7870426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34677" y="3861034"/>
            <a:ext cx="808133" cy="789192"/>
          </a:xfrm>
          <a:prstGeom prst="rect">
            <a:avLst/>
          </a:prstGeom>
        </p:spPr>
      </p:pic>
      <p:sp>
        <p:nvSpPr>
          <p:cNvPr id="143860371" name="ZoneTexte 143860370"/>
          <p:cNvSpPr txBox="1"/>
          <p:nvPr/>
        </p:nvSpPr>
        <p:spPr bwMode="auto">
          <a:xfrm>
            <a:off x="3772458" y="2771070"/>
            <a:ext cx="6748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fr-FR" sz="1200" noProof="0" dirty="0" err="1"/>
              <a:t>gitlab</a:t>
            </a:r>
            <a:endParaRPr lang="fr-FR" sz="1200" noProof="0" dirty="0">
              <a:solidFill>
                <a:schemeClr val="tx1">
                  <a:alpha val="99999"/>
                </a:schemeClr>
              </a:solidFill>
            </a:endParaRPr>
          </a:p>
        </p:txBody>
      </p:sp>
      <p:sp>
        <p:nvSpPr>
          <p:cNvPr id="364248190" name="Organigramme : Alternative 364248189"/>
          <p:cNvSpPr/>
          <p:nvPr/>
        </p:nvSpPr>
        <p:spPr bwMode="auto">
          <a:xfrm>
            <a:off x="2388507" y="2003425"/>
            <a:ext cx="8490739" cy="4166889"/>
          </a:xfrm>
          <a:prstGeom prst="flowChartAlternateProcess">
            <a:avLst/>
          </a:prstGeom>
          <a:noFill/>
          <a:ln w="19049" cap="flat" cmpd="sng" algn="ctr">
            <a:solidFill>
              <a:srgbClr val="2E6CE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098951402" name="Organigramme : Alternative 2098951401"/>
          <p:cNvSpPr/>
          <p:nvPr/>
        </p:nvSpPr>
        <p:spPr bwMode="auto">
          <a:xfrm>
            <a:off x="3070986" y="2504746"/>
            <a:ext cx="7109848" cy="3120388"/>
          </a:xfrm>
          <a:prstGeom prst="flowChartAlternateProcess">
            <a:avLst/>
          </a:prstGeom>
          <a:noFill/>
          <a:ln w="19049" cap="flat" cmpd="sng" algn="ctr">
            <a:solidFill>
              <a:srgbClr val="2F528F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997195970" name="Image 199719596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702569" y="2175758"/>
            <a:ext cx="673768" cy="657976"/>
          </a:xfrm>
          <a:prstGeom prst="rect">
            <a:avLst/>
          </a:prstGeom>
        </p:spPr>
      </p:pic>
      <p:sp>
        <p:nvSpPr>
          <p:cNvPr id="1051716546" name="Organigramme : Alternative 1051716545"/>
          <p:cNvSpPr/>
          <p:nvPr/>
        </p:nvSpPr>
        <p:spPr bwMode="auto">
          <a:xfrm>
            <a:off x="6780074" y="3271085"/>
            <a:ext cx="2914760" cy="1823536"/>
          </a:xfrm>
          <a:prstGeom prst="flowChartAlternateProcess">
            <a:avLst/>
          </a:prstGeom>
          <a:noFill/>
          <a:ln w="12699" cap="flat" cmpd="sng" algn="ctr">
            <a:solidFill>
              <a:srgbClr val="2F528F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607817494" name="Image 160781749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363191" y="3860180"/>
            <a:ext cx="821304" cy="802054"/>
          </a:xfrm>
          <a:prstGeom prst="rect">
            <a:avLst/>
          </a:prstGeom>
        </p:spPr>
      </p:pic>
      <p:sp>
        <p:nvSpPr>
          <p:cNvPr id="2030276477" name="Rectangle 2030276476"/>
          <p:cNvSpPr/>
          <p:nvPr/>
        </p:nvSpPr>
        <p:spPr bwMode="auto">
          <a:xfrm>
            <a:off x="7547963" y="3505006"/>
            <a:ext cx="1378983" cy="4762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1600" noProof="0" dirty="0">
              <a:ln w="12699">
                <a:noFill/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1730031984" name="Rectangle 1730031983"/>
          <p:cNvSpPr/>
          <p:nvPr/>
        </p:nvSpPr>
        <p:spPr bwMode="auto">
          <a:xfrm>
            <a:off x="7547963" y="4390139"/>
            <a:ext cx="1378982" cy="4762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1600" noProof="0" dirty="0"/>
          </a:p>
        </p:txBody>
      </p:sp>
      <p:pic>
        <p:nvPicPr>
          <p:cNvPr id="1696826406" name="Image 1696826405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080140" y="3903858"/>
            <a:ext cx="497952" cy="486281"/>
          </a:xfrm>
          <a:prstGeom prst="rect">
            <a:avLst/>
          </a:prstGeom>
        </p:spPr>
      </p:pic>
      <p:pic>
        <p:nvPicPr>
          <p:cNvPr id="857852156" name="Image 857852155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994674" y="3527574"/>
            <a:ext cx="431114" cy="431114"/>
          </a:xfrm>
          <a:prstGeom prst="rect">
            <a:avLst/>
          </a:prstGeom>
        </p:spPr>
      </p:pic>
      <p:pic>
        <p:nvPicPr>
          <p:cNvPr id="720523597" name="Graphique 720523596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8024879" y="4414255"/>
            <a:ext cx="370704" cy="428016"/>
          </a:xfrm>
          <a:prstGeom prst="rect">
            <a:avLst/>
          </a:prstGeom>
        </p:spPr>
      </p:pic>
      <p:sp>
        <p:nvSpPr>
          <p:cNvPr id="2088405704" name="Flèche : droite 2088405703"/>
          <p:cNvSpPr/>
          <p:nvPr/>
        </p:nvSpPr>
        <p:spPr bwMode="auto">
          <a:xfrm>
            <a:off x="4376338" y="4241800"/>
            <a:ext cx="515882" cy="14868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996793538" name="Flèche : demi-tour 996793537"/>
          <p:cNvSpPr/>
          <p:nvPr/>
        </p:nvSpPr>
        <p:spPr bwMode="auto">
          <a:xfrm>
            <a:off x="8344230" y="2967521"/>
            <a:ext cx="287872" cy="533931"/>
          </a:xfrm>
          <a:prstGeom prst="uturnArrow">
            <a:avLst>
              <a:gd name="adj1" fmla="val 25000"/>
              <a:gd name="adj2" fmla="val 23846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noProof="0" dirty="0"/>
          </a:p>
        </p:txBody>
      </p:sp>
      <p:pic>
        <p:nvPicPr>
          <p:cNvPr id="1782309971" name="Graphique 1782309970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7967450" y="2689513"/>
            <a:ext cx="485562" cy="485562"/>
          </a:xfrm>
          <a:prstGeom prst="rect">
            <a:avLst/>
          </a:prstGeom>
        </p:spPr>
      </p:pic>
      <p:pic>
        <p:nvPicPr>
          <p:cNvPr id="321595102" name="Image 321595101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8618339" y="3662500"/>
            <a:ext cx="277274" cy="277274"/>
          </a:xfrm>
          <a:prstGeom prst="rect">
            <a:avLst/>
          </a:prstGeom>
        </p:spPr>
      </p:pic>
      <p:pic>
        <p:nvPicPr>
          <p:cNvPr id="226911909" name="Image 226911908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8632102" y="4533666"/>
            <a:ext cx="277273" cy="277273"/>
          </a:xfrm>
          <a:prstGeom prst="rect">
            <a:avLst/>
          </a:prstGeom>
        </p:spPr>
      </p:pic>
      <p:pic>
        <p:nvPicPr>
          <p:cNvPr id="2051316005" name="Image 2051316004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7259281" y="3318303"/>
            <a:ext cx="465795" cy="454878"/>
          </a:xfrm>
          <a:prstGeom prst="rect">
            <a:avLst/>
          </a:prstGeom>
        </p:spPr>
      </p:pic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0211F8A0-E79E-5415-5954-B570AF873DFC}"/>
              </a:ext>
            </a:extLst>
          </p:cNvPr>
          <p:cNvSpPr/>
          <p:nvPr/>
        </p:nvSpPr>
        <p:spPr bwMode="auto">
          <a:xfrm>
            <a:off x="5785199" y="4242158"/>
            <a:ext cx="515882" cy="14868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1A255DA0-784E-7DE1-9FCA-2EF5C0529C86}"/>
              </a:ext>
            </a:extLst>
          </p:cNvPr>
          <p:cNvCxnSpPr>
            <a:cxnSpLocks/>
            <a:stCxn id="1696826406" idx="0"/>
            <a:endCxn id="2030276477" idx="3"/>
          </p:cNvCxnSpPr>
          <p:nvPr/>
        </p:nvCxnSpPr>
        <p:spPr>
          <a:xfrm rot="16200000" flipV="1">
            <a:off x="9047668" y="3622410"/>
            <a:ext cx="160727" cy="4021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3ABA0C75-8F47-66EB-6451-4E8E9589FA5E}"/>
              </a:ext>
            </a:extLst>
          </p:cNvPr>
          <p:cNvCxnSpPr>
            <a:cxnSpLocks/>
            <a:stCxn id="1696826406" idx="2"/>
            <a:endCxn id="1730031984" idx="3"/>
          </p:cNvCxnSpPr>
          <p:nvPr/>
        </p:nvCxnSpPr>
        <p:spPr>
          <a:xfrm rot="5400000">
            <a:off x="9008969" y="4308116"/>
            <a:ext cx="238125" cy="40217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A4CAFEAF-D6EB-917F-54A6-05591E6859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8674" y="386680"/>
            <a:ext cx="9289034" cy="1332114"/>
          </a:xfrm>
          <a:prstGeom prst="rect">
            <a:avLst/>
          </a:prstGeom>
        </p:spPr>
      </p:pic>
      <p:pic>
        <p:nvPicPr>
          <p:cNvPr id="854538140" name="Graphique 854538139"/>
          <p:cNvPicPr>
            <a:picLocks noChangeAspect="1"/>
          </p:cNvPicPr>
          <p:nvPr/>
        </p:nvPicPr>
        <p:blipFill rotWithShape="1"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 bwMode="auto">
          <a:xfrm>
            <a:off x="9527221" y="1505352"/>
            <a:ext cx="858283" cy="858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60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960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40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8840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0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70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78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71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171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27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3027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85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5785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1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5131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7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967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9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159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03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3003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205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82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9682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691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716546" grpId="0" animBg="1"/>
      <p:bldP spid="2030276477" grpId="0" animBg="1"/>
      <p:bldP spid="1730031984" grpId="0" animBg="1"/>
      <p:bldP spid="2088405704" grpId="0" animBg="1"/>
      <p:bldP spid="996793538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27957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872928184" name="Espace réservé du texte 2"/>
          <p:cNvSpPr>
            <a:spLocks noGrp="1"/>
          </p:cNvSpPr>
          <p:nvPr>
            <p:ph type="body" sz="quarter" idx="19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Notifications</a:t>
            </a:r>
          </a:p>
        </p:txBody>
      </p:sp>
      <p:sp>
        <p:nvSpPr>
          <p:cNvPr id="2110309987" name="Espace réservé du texte 2"/>
          <p:cNvSpPr>
            <a:spLocks noGrp="1"/>
          </p:cNvSpPr>
          <p:nvPr>
            <p:ph idx="1" hasCustomPrompt="1"/>
          </p:nvPr>
        </p:nvSpPr>
        <p:spPr bwMode="auto">
          <a:xfrm>
            <a:off x="2135556" y="1200901"/>
            <a:ext cx="8470750" cy="4810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Clr>
                <a:srgbClr val="FFC000"/>
              </a:buClr>
              <a:buFont typeface="Open Sans ExtraBold"/>
              <a:buNone/>
              <a:defRPr sz="2000"/>
            </a:lvl1pPr>
          </a:lstStyle>
          <a:p>
            <a:pPr marL="305908" indent="-305908">
              <a:buClr>
                <a:srgbClr val="FFC000"/>
              </a:buClr>
              <a:buFont typeface="Arial"/>
              <a:buChar char="–"/>
              <a:defRPr/>
            </a:pPr>
            <a:r>
              <a:rPr lang="fr-FR" noProof="0" dirty="0"/>
              <a:t>Upgrade effectué</a:t>
            </a:r>
          </a:p>
          <a:p>
            <a:pPr marL="305908" indent="-305908">
              <a:buClr>
                <a:srgbClr val="FFC000"/>
              </a:buClr>
              <a:buFont typeface="Arial"/>
              <a:buChar char="–"/>
              <a:defRPr/>
            </a:pPr>
            <a:r>
              <a:rPr lang="fr-FR" noProof="0" dirty="0"/>
              <a:t>Version majeure détectée</a:t>
            </a:r>
          </a:p>
        </p:txBody>
      </p:sp>
      <p:sp>
        <p:nvSpPr>
          <p:cNvPr id="1173599484" name="Rectangle 1173599483"/>
          <p:cNvSpPr/>
          <p:nvPr/>
        </p:nvSpPr>
        <p:spPr bwMode="auto">
          <a:xfrm>
            <a:off x="5731686" y="6643684"/>
            <a:ext cx="746122" cy="1825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210636759" name="Image 21063675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82043" y="1752339"/>
            <a:ext cx="5085094" cy="4620675"/>
          </a:xfrm>
          <a:prstGeom prst="rect">
            <a:avLst/>
          </a:prstGeom>
        </p:spPr>
      </p:pic>
      <p:pic>
        <p:nvPicPr>
          <p:cNvPr id="1997848954" name="Image 199784895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495727" y="2564787"/>
            <a:ext cx="7257726" cy="2278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0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1030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84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784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3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84865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Présentation</a:t>
            </a:r>
            <a:br>
              <a:rPr lang="fr-FR" noProof="0" dirty="0">
                <a:latin typeface="Open Sans Light"/>
                <a:ea typeface="Open Sans Light"/>
                <a:cs typeface="Open Sans Light"/>
              </a:rPr>
            </a:br>
            <a:r>
              <a:rPr lang="fr-FR" noProof="0" dirty="0">
                <a:latin typeface="Open Sans Light"/>
                <a:ea typeface="Open Sans Light"/>
                <a:cs typeface="Open Sans Light"/>
              </a:rPr>
              <a:t>technique</a:t>
            </a:r>
            <a:endParaRPr lang="fr-FR" noProof="0" dirty="0"/>
          </a:p>
        </p:txBody>
      </p:sp>
      <p:sp>
        <p:nvSpPr>
          <p:cNvPr id="1031785772" name="Espace réservé du texte 2"/>
          <p:cNvSpPr>
            <a:spLocks noGrp="1"/>
          </p:cNvSpPr>
          <p:nvPr>
            <p:ph type="body" sz="quarter" idx="19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>
              <a:defRPr/>
            </a:pPr>
            <a:r>
              <a:rPr lang="fr-FR" noProof="0" dirty="0">
                <a:latin typeface="Open Sans Light"/>
                <a:ea typeface="Open Sans Light"/>
                <a:cs typeface="Open Sans Light"/>
              </a:rPr>
              <a:t>Ressources et remerciements</a:t>
            </a:r>
          </a:p>
        </p:txBody>
      </p:sp>
      <p:sp>
        <p:nvSpPr>
          <p:cNvPr id="918089374" name="Espace réservé du texte 2"/>
          <p:cNvSpPr>
            <a:spLocks noGrp="1"/>
          </p:cNvSpPr>
          <p:nvPr>
            <p:ph idx="1" hasCustomPrompt="1"/>
          </p:nvPr>
        </p:nvSpPr>
        <p:spPr bwMode="auto">
          <a:xfrm>
            <a:off x="2135556" y="1200901"/>
            <a:ext cx="8470749" cy="481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Clr>
                <a:srgbClr val="FFC000"/>
              </a:buClr>
              <a:buFont typeface="Open Sans ExtraBold"/>
              <a:buNone/>
              <a:defRPr sz="2000"/>
            </a:lvl1pPr>
          </a:lstStyle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sz="2000" b="1" i="0" u="sng" strike="noStrike" cap="none" spc="0" noProof="0" dirty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  <a:hlinkClick r:id="rId3"/>
              </a:rPr>
              <a:t>https://www.updatecli.io</a:t>
            </a:r>
            <a:endParaRPr lang="fr-FR" sz="2000" b="1" i="0" u="none" strike="noStrike" cap="none" spc="0" noProof="0" dirty="0">
              <a:solidFill>
                <a:srgbClr val="153D8A"/>
              </a:solidFill>
              <a:latin typeface="Times New Roman"/>
              <a:cs typeface="Times New Roman"/>
            </a:endParaRPr>
          </a:p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sz="2000" b="1" i="0" u="sng" strike="noStrike" cap="none" spc="0" noProof="0" dirty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  <a:hlinkClick r:id="rId4"/>
              </a:rPr>
              <a:t>https://github.com/updatecli/updatecli</a:t>
            </a:r>
            <a:endParaRPr lang="fr-FR" sz="2000" b="1" i="0" u="none" strike="noStrike" cap="none" spc="0" noProof="0" dirty="0">
              <a:solidFill>
                <a:srgbClr val="153D8A"/>
              </a:solidFill>
              <a:latin typeface="Times New Roman"/>
              <a:cs typeface="Times New Roman"/>
            </a:endParaRPr>
          </a:p>
          <a:p>
            <a:pPr marL="305907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sz="2000" b="1" i="0" u="none" strike="noStrike" cap="none" spc="0" noProof="0" dirty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</a:rPr>
              <a:t>Aller plus loin :</a:t>
            </a:r>
            <a:endParaRPr lang="fr-FR" noProof="0" dirty="0"/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sz="1400" b="1" i="0" u="none" strike="noStrike" cap="none" spc="0" noProof="0" dirty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</a:rPr>
              <a:t>Autodiscovery</a:t>
            </a:r>
            <a:endParaRPr lang="fr-FR" sz="2000" b="1" i="0" u="none" strike="noStrike" cap="none" spc="0" noProof="0" dirty="0">
              <a:solidFill>
                <a:srgbClr val="153D8A"/>
              </a:solidFill>
              <a:latin typeface="Times New Roman"/>
              <a:cs typeface="Times New Roman"/>
            </a:endParaRPr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sz="1400" b="1" i="0" u="none" strike="noStrike" cap="none" spc="0" noProof="0" dirty="0">
                <a:solidFill>
                  <a:srgbClr val="153D8A"/>
                </a:solidFill>
                <a:latin typeface="Open Sans ExtraBold"/>
                <a:ea typeface="Open Sans ExtraBold"/>
                <a:cs typeface="Open Sans ExtraBold"/>
              </a:rPr>
              <a:t>Policies</a:t>
            </a:r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endParaRPr lang="fr-FR" dirty="0"/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endParaRPr lang="fr-FR" b="1" i="0" u="none" strike="noStrike" cap="none" spc="0" noProof="0" dirty="0">
              <a:solidFill>
                <a:srgbClr val="153D8A"/>
              </a:solidFill>
              <a:latin typeface="Times New Roman"/>
              <a:cs typeface="Times New Roman"/>
            </a:endParaRPr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endParaRPr lang="fr-FR" b="1" i="0" u="none" strike="noStrike" cap="none" spc="0" noProof="0" dirty="0">
              <a:solidFill>
                <a:srgbClr val="153D8A"/>
              </a:solidFill>
              <a:latin typeface="Times New Roman"/>
              <a:cs typeface="Times New Roman"/>
            </a:endParaRPr>
          </a:p>
          <a:p>
            <a:pPr marL="305907" indent="-305907">
              <a:buFont typeface="Arial"/>
              <a:buChar char="–"/>
              <a:defRPr/>
            </a:pPr>
            <a:r>
              <a:rPr lang="fr-FR" dirty="0"/>
              <a:t>Merci à Olivier VERNIN - Créateur d’Updatecli</a:t>
            </a:r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r>
              <a:rPr lang="fr-FR" dirty="0">
                <a:hlinkClick r:id="rId5"/>
              </a:rPr>
              <a:t>https://github.com/olblak</a:t>
            </a:r>
            <a:endParaRPr lang="fr-FR" dirty="0"/>
          </a:p>
          <a:p>
            <a:pPr marL="705957" lvl="1" indent="-305907">
              <a:buClr>
                <a:srgbClr val="FFC000"/>
              </a:buClr>
              <a:buFont typeface="Arial"/>
              <a:buChar char="–"/>
              <a:defRPr/>
            </a:pPr>
            <a:endParaRPr lang="fr-FR" dirty="0">
              <a:latin typeface="Times New Roman"/>
              <a:cs typeface="Times New Roman"/>
            </a:endParaRPr>
          </a:p>
          <a:p>
            <a:pPr marL="400050" lvl="1" indent="0">
              <a:buClr>
                <a:srgbClr val="FFC000"/>
              </a:buClr>
              <a:buNone/>
              <a:defRPr/>
            </a:pPr>
            <a:endParaRPr lang="fr-FR" noProof="0" dirty="0"/>
          </a:p>
        </p:txBody>
      </p:sp>
      <p:sp>
        <p:nvSpPr>
          <p:cNvPr id="197747834" name="Rectangle 197747833"/>
          <p:cNvSpPr/>
          <p:nvPr/>
        </p:nvSpPr>
        <p:spPr bwMode="auto">
          <a:xfrm>
            <a:off x="5731686" y="6643683"/>
            <a:ext cx="746121" cy="18255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33272" name="Espace réservé du texte 1"/>
          <p:cNvSpPr>
            <a:spLocks noGrp="1"/>
          </p:cNvSpPr>
          <p:nvPr>
            <p:ph type="body" sz="quarter" idx="13"/>
          </p:nvPr>
        </p:nvSpPr>
        <p:spPr bwMode="auto">
          <a:xfrm>
            <a:off x="1658088" y="727223"/>
            <a:ext cx="9211426" cy="1179117"/>
          </a:xfrm>
        </p:spPr>
        <p:txBody>
          <a:bodyPr/>
          <a:lstStyle/>
          <a:p>
            <a:pPr>
              <a:defRPr/>
            </a:pPr>
            <a:br>
              <a:rPr lang="fr-FR" sz="2800" noProof="0" dirty="0"/>
            </a:br>
            <a:r>
              <a:rPr lang="fr-FR" sz="2800" noProof="0" dirty="0"/>
              <a:t>Questions</a:t>
            </a:r>
            <a:r>
              <a:rPr lang="fr-FR" sz="2800" dirty="0"/>
              <a:t> ?</a:t>
            </a:r>
            <a:endParaRPr lang="fr-FR" sz="2800" noProof="0" dirty="0"/>
          </a:p>
        </p:txBody>
      </p:sp>
      <p:sp>
        <p:nvSpPr>
          <p:cNvPr id="1667253144" name="Titr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noProof="0" dirty="0"/>
              <a:t>Questions</a:t>
            </a:r>
          </a:p>
        </p:txBody>
      </p:sp>
      <p:sp>
        <p:nvSpPr>
          <p:cNvPr id="1741247838" name="Rectangle 1741247837"/>
          <p:cNvSpPr/>
          <p:nvPr/>
        </p:nvSpPr>
        <p:spPr bwMode="auto">
          <a:xfrm>
            <a:off x="5731686" y="6643686"/>
            <a:ext cx="746124" cy="18256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fr-FR" noProof="0" dirty="0"/>
          </a:p>
        </p:txBody>
      </p:sp>
      <p:pic>
        <p:nvPicPr>
          <p:cNvPr id="3" name="Image 2" descr="Une image contenant personne, Visage humain, jeune enfant, intérieur&#10;&#10;Le contenu généré par l’IA peut être incorrect.">
            <a:extLst>
              <a:ext uri="{FF2B5EF4-FFF2-40B4-BE49-F238E27FC236}">
                <a16:creationId xmlns:a16="http://schemas.microsoft.com/office/drawing/2014/main" id="{C948E3B1-E65A-3F42-8328-8CF44DE9E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147" y="2219933"/>
            <a:ext cx="6029325" cy="3390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AP-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gray"/>
      <a:bodyPr/>
      <a:lstStyle/>
    </a:txDef>
  </a:objectDefaults>
  <a:extraClrSchemeLst/>
</a:theme>
</file>

<file path=ppt/theme/theme2.xml><?xml version="1.0" encoding="utf-8"?>
<a:theme xmlns:a="http://schemas.openxmlformats.org/drawingml/2006/main" name="Thème AP-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gray"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</TotalTime>
  <Words>369</Words>
  <Application>Microsoft Office PowerPoint</Application>
  <DocSecurity>0</DocSecurity>
  <PresentationFormat>Grand écran</PresentationFormat>
  <Paragraphs>86</Paragraphs>
  <Slides>10</Slides>
  <Notes>10</Notes>
  <HiddenSlides>0</HiddenSlides>
  <MMClips>1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4" baseType="lpstr">
      <vt:lpstr>Aptos Display</vt:lpstr>
      <vt:lpstr>Arial</vt:lpstr>
      <vt:lpstr>Calibri</vt:lpstr>
      <vt:lpstr>Montserrat</vt:lpstr>
      <vt:lpstr>Montserrat Light</vt:lpstr>
      <vt:lpstr>Open Sans</vt:lpstr>
      <vt:lpstr>Open Sans Bold</vt:lpstr>
      <vt:lpstr>Open Sans Extrabold</vt:lpstr>
      <vt:lpstr>Open Sans Extrabold</vt:lpstr>
      <vt:lpstr>Open Sans Light</vt:lpstr>
      <vt:lpstr>Open Sans Semibold</vt:lpstr>
      <vt:lpstr>Times New Roman</vt:lpstr>
      <vt:lpstr>Wingdings</vt:lpstr>
      <vt:lpstr>Thème AP-HP</vt:lpstr>
      <vt:lpstr>Présentation PowerPoint</vt:lpstr>
      <vt:lpstr>Présentation technique</vt:lpstr>
      <vt:lpstr>Présentation technique</vt:lpstr>
      <vt:lpstr>Présentation technique</vt:lpstr>
      <vt:lpstr>Présentation technique</vt:lpstr>
      <vt:lpstr>Présentation technique</vt:lpstr>
      <vt:lpstr>Présentation technique</vt:lpstr>
      <vt:lpstr>Présentation technique</vt:lpstr>
      <vt:lpstr>Présentation technique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/>
  <cp:lastModifiedBy>Anthony Benguerfi</cp:lastModifiedBy>
  <cp:revision>80</cp:revision>
  <dcterms:created xsi:type="dcterms:W3CDTF">2022-12-21T14:27:32Z</dcterms:created>
  <dcterms:modified xsi:type="dcterms:W3CDTF">2025-12-10T22:09:20Z</dcterms:modified>
  <cp:category/>
  <dc:identifier/>
  <cp:contentStatus/>
  <dc:language/>
  <cp:version/>
</cp:coreProperties>
</file>